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629a15e19c47b3" /><Relationship Type="http://schemas.openxmlformats.org/officeDocument/2006/relationships/extended-properties" Target="/docProps/app.xml" Id="R9e2679a6f2cc4e10" /><Relationship Type="http://schemas.openxmlformats.org/officeDocument/2006/relationships/officeDocument" Target="/ppt/presentation.xml" Id="Rcd5f03d8b09243cf" /></Relationships>
</file>

<file path=ppt/presentation.xml><?xml version="1.0" encoding="utf-8"?>
<p:presentation xmlns:p="http://schemas.openxmlformats.org/presentationml/2006/main">
  <p:sldMasterIdLst>
    <p:sldMasterId xmlns:r="http://schemas.openxmlformats.org/officeDocument/2006/relationships" id="2147483648" r:id="Rc8ed8b5113624aed"/>
  </p:sldMasterIdLst>
  <p:notesMasterIdLst>
    <p:notesMasterId xmlns:r="http://schemas.openxmlformats.org/officeDocument/2006/relationships" r:id="Re72eebe242cd4e89"/>
  </p:notesMasterIdLst>
  <p:sldIdLst>
    <p:sldId xmlns:r="http://schemas.openxmlformats.org/officeDocument/2006/relationships" id="256" r:id="Ra74f500888d64fb0"/>
    <p:sldId xmlns:r="http://schemas.openxmlformats.org/officeDocument/2006/relationships" id="257" r:id="R1274b25271444b3c"/>
    <p:sldId xmlns:r="http://schemas.openxmlformats.org/officeDocument/2006/relationships" id="258" r:id="R13533abef2844777"/>
    <p:sldId xmlns:r="http://schemas.openxmlformats.org/officeDocument/2006/relationships" id="259" r:id="R7cbeb0d050a54032"/>
    <p:sldId xmlns:r="http://schemas.openxmlformats.org/officeDocument/2006/relationships" id="260" r:id="Rd3f742d84d244248"/>
    <p:sldId xmlns:r="http://schemas.openxmlformats.org/officeDocument/2006/relationships" id="261" r:id="R7112791fc1e44a36"/>
    <p:sldId xmlns:r="http://schemas.openxmlformats.org/officeDocument/2006/relationships" id="262" r:id="R3393c511e1974025"/>
    <p:sldId xmlns:r="http://schemas.openxmlformats.org/officeDocument/2006/relationships" id="263" r:id="R7cb934a5ba9f4e7b"/>
    <p:sldId xmlns:r="http://schemas.openxmlformats.org/officeDocument/2006/relationships" id="264" r:id="Ra84ff514e49646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310e7e1daf4d4d" /><Relationship Type="http://schemas.openxmlformats.org/officeDocument/2006/relationships/slideMaster" Target="/ppt/slideMasters/slideMaster1.xml" Id="Rc8ed8b5113624aed" /><Relationship Type="http://schemas.openxmlformats.org/officeDocument/2006/relationships/notesMaster" Target="/ppt/notesMasters/notesMaster1.xml" Id="Re72eebe242cd4e89" /><Relationship Type="http://schemas.openxmlformats.org/officeDocument/2006/relationships/presProps" Target="/ppt/presProps.xml" Id="Rce739ff117454a3a" /><Relationship Type="http://schemas.openxmlformats.org/officeDocument/2006/relationships/tableStyles" Target="/ppt/tableStyles.xml" Id="R764f6c5c8b514f56" /><Relationship Type="http://schemas.openxmlformats.org/officeDocument/2006/relationships/slide" Target="/ppt/slides/slide1.xml" Id="Ra74f500888d64fb0" /><Relationship Type="http://schemas.openxmlformats.org/officeDocument/2006/relationships/slide" Target="/ppt/slides/slide2.xml" Id="R1274b25271444b3c" /><Relationship Type="http://schemas.openxmlformats.org/officeDocument/2006/relationships/slide" Target="/ppt/slides/slide3.xml" Id="R13533abef2844777" /><Relationship Type="http://schemas.openxmlformats.org/officeDocument/2006/relationships/slide" Target="/ppt/slides/slide4.xml" Id="R7cbeb0d050a54032" /><Relationship Type="http://schemas.openxmlformats.org/officeDocument/2006/relationships/slide" Target="/ppt/slides/slide5.xml" Id="Rd3f742d84d244248" /><Relationship Type="http://schemas.openxmlformats.org/officeDocument/2006/relationships/slide" Target="/ppt/slides/slide6.xml" Id="R7112791fc1e44a36" /><Relationship Type="http://schemas.openxmlformats.org/officeDocument/2006/relationships/slide" Target="/ppt/slides/slide7.xml" Id="R3393c511e1974025" /><Relationship Type="http://schemas.openxmlformats.org/officeDocument/2006/relationships/slide" Target="/ppt/slides/slide8.xml" Id="R7cb934a5ba9f4e7b" /><Relationship Type="http://schemas.openxmlformats.org/officeDocument/2006/relationships/slide" Target="/ppt/slides/slide9.xml" Id="Ra84ff514e49646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460d23e1c64d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e9e31415f64e6e" /><Relationship Type="http://schemas.openxmlformats.org/officeDocument/2006/relationships/notesMaster" Target="/ppt/notesMasters/notesMaster1.xml" Id="R9497456f534142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5eb7e0515647f7" /><Relationship Type="http://schemas.openxmlformats.org/officeDocument/2006/relationships/notesMaster" Target="/ppt/notesMasters/notesMaster1.xml" Id="R779ab90153914f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cf1d3201f549c6" /><Relationship Type="http://schemas.openxmlformats.org/officeDocument/2006/relationships/notesMaster" Target="/ppt/notesMasters/notesMaster1.xml" Id="R0b750a83654343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9f9e85e8d740a1" /><Relationship Type="http://schemas.openxmlformats.org/officeDocument/2006/relationships/notesMaster" Target="/ppt/notesMasters/notesMaster1.xml" Id="Rfb468925503f40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950c60e8d34743" /><Relationship Type="http://schemas.openxmlformats.org/officeDocument/2006/relationships/notesMaster" Target="/ppt/notesMasters/notesMaster1.xml" Id="Rebfa0221b4864f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7b987b55674eb2" /><Relationship Type="http://schemas.openxmlformats.org/officeDocument/2006/relationships/notesMaster" Target="/ppt/notesMasters/notesMaster1.xml" Id="R72d11d297cc347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a2a27f478a4589" /><Relationship Type="http://schemas.openxmlformats.org/officeDocument/2006/relationships/notesMaster" Target="/ppt/notesMasters/notesMaster1.xml" Id="R94acb99fbe1a44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6dbce53b1e4504" /><Relationship Type="http://schemas.openxmlformats.org/officeDocument/2006/relationships/notesMaster" Target="/ppt/notesMasters/notesMaster1.xml" Id="R9c7c0c462899465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5456bf3b094a5a" /><Relationship Type="http://schemas.openxmlformats.org/officeDocument/2006/relationships/notesMaster" Target="/ppt/notesMasters/notesMaster1.xml" Id="R4f30e38a1da548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everyone, we are the MetaboCausal team. In this hackathon, we built a Slack agent for metabolite-disease questions. The idea is simple: someone asks whether a molecule measured in blood may be related to a disease, and the agent returns a source-linked evidence card that the team can inspect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starts before any model answer. Biology gives us many signals, but a signal is not automatically a causal explanation. A molecule can be associated with disease without causing it. The evidence is scattered across papers, genetic databases, target databases and clinical records. Manual review takes time, and AI summaries can sound confident even when support is weak.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scientific boundary we tried to keep visible. A metabolite is often a readout, while intervention may happen at a gene, protein, pathway or drug level. Moving a biomarker and helping a patient are different claims. MetaboCausal keeps these levels separate so a useful signal does not become an unsupported target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logic is the A/B/C state. State A means we retrieved existing genetic evidence. State B means the analysis appears feasible, but the exact estimate has not been found yet. State C means the required evidence was not retrieved from current sources. The key principle is simple: a gap should stay a gap. It should not become a fake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pipeline resolves molecule and disease names, retrieves genetic evidence, checks feasibility, adds gene and target context when available, and renders the result as an evidence card. The model can help explain the run, but it does not get to rewrite the evidence. If the evidence is missing or contradictory, the product should show that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I will show the Slack demo. Here, a user asks a metabolite-disease question. The agent returns a compact answer in the same thread, with the evidence status and links back to sources. This matters because the discussion can happen where the team already works, while the underlying record remains inspectable.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deeper view, the same result can open as an HTML evidence card. This screenshot shows an important product behavior: the card says State C, evidence gap. It does not turn a missing validated MR estimate into no effect. It keeps provenance and tells the team what to check next. If I open the real HTML viewer, I will point to the gap, provenance and next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also tested the system with a deliberately wrong prompt in Slack. In this test, the agent did not invent evidence for the false premise. It rejected the unsupported claim and kept the evidence boundary visible. We do not claim this means hallucination is impossible. We claim this is the kind of challenge test the product must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main contribution was the scientific and product framework: turning a metabolite-disease question into a traceable causal-evidence workflow, separating retrieved evidence from model interpretation, and integrating the team modules into one product path. The current MVP includes the Slack workflow, source-linked evidence cards and model-based interpretation with OpenAI and Claude. Next, we expand literature coverage and add deeper gene and pathway context. MetaboCausal does not claim to prove that a drug will work. It helps teams see what is known, what is missing and what to test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3aa36f9f4b4f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4bd0d56a054a5c" /><Relationship Type="http://schemas.openxmlformats.org/officeDocument/2006/relationships/slideLayout" Target="/ppt/slideLayouts/slideLayout1.xml" Id="R634d77c908f34c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4d77c908f34c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602133538c4081" /><Relationship Type="http://schemas.openxmlformats.org/officeDocument/2006/relationships/notesSlide" Target="/ppt/notesSlides/notesSlide1.xml" Id="R8aa468ddd44946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3ab04a491b481e" /><Relationship Type="http://schemas.openxmlformats.org/officeDocument/2006/relationships/notesSlide" Target="/ppt/notesSlides/notesSlide2.xml" Id="R6384e8724ddd43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e11776912745ff" /><Relationship Type="http://schemas.openxmlformats.org/officeDocument/2006/relationships/notesSlide" Target="/ppt/notesSlides/notesSlide3.xml" Id="R8ff713fb51f24d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b75c93d6464939" /><Relationship Type="http://schemas.openxmlformats.org/officeDocument/2006/relationships/notesSlide" Target="/ppt/notesSlides/notesSlide4.xml" Id="Re890fbd3624f42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e0dc65c2eed49eb" /><Relationship Type="http://schemas.openxmlformats.org/officeDocument/2006/relationships/notesSlide" Target="/ppt/notesSlides/notesSlide5.xml" Id="Rc7d4bda69ed945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e8a64fd7f0419a" /><Relationship Type="http://schemas.openxmlformats.org/officeDocument/2006/relationships/notesSlide" Target="/ppt/notesSlides/notesSlide6.xml" Id="Rf57ae9ff3dcb48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dd68a0f126a465e" /><Relationship Type="http://schemas.openxmlformats.org/officeDocument/2006/relationships/image" Target="/ppt/media/image.png" Id="Rd0ed03d9aa824716" /><Relationship Type="http://schemas.openxmlformats.org/officeDocument/2006/relationships/notesSlide" Target="/ppt/notesSlides/notesSlide7.xml" Id="Rb3958175f4d74d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8348155f2354147" /><Relationship Type="http://schemas.openxmlformats.org/officeDocument/2006/relationships/notesSlide" Target="/ppt/notesSlides/notesSlide8.xml" Id="Rf90c95bd75054c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9a0a3cc06c44ee6" /><Relationship Type="http://schemas.openxmlformats.org/officeDocument/2006/relationships/notesSlide" Target="/ppt/notesSlides/notesSlide9.xml" Id="R6908fcaa69004674"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A71A837-0E15-41B2-82BD-A41C5407083A}"/>
              </a:ext>
            </a:extLst>
          </p:cNvPr>
          <p:cNvSpPr>
            <a:spLocks xmlns:a="http://schemas.openxmlformats.org/drawingml/2006/main" noGrp="1"/>
          </p:cNvSpPr>
          <p:nvPr/>
        </p:nvSpPr>
        <p:spPr>
          <a:xfrm xmlns:a="http://schemas.openxmlformats.org/drawingml/2006/main">
            <a:off x="685800" y="514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0E7490"/>
                </a:solidFill>
                <a:latin typeface="Arial"/>
                <a:ea typeface="Arial"/>
                <a:cs typeface="Arial"/>
              </a:defRPr>
            </a:pPr>
            <a:r>
              <a:rPr sz="1050" b="1">
                <a:solidFill>
                  <a:srgbClr val="0E7490"/>
                </a:solidFill>
                <a:latin typeface="Arial"/>
                <a:ea typeface="Arial"/>
                <a:cs typeface="Arial"/>
              </a:rPr>
              <a:t>FIVE-MINUTE DEMO</a:t>
            </a:r>
          </a:p>
        </p:txBody>
      </p:sp>
      <p:sp>
        <p:nvSpPr>
          <p:cNvPr id="2" name="">
            <a:extLst xmlns:a="http://schemas.openxmlformats.org/drawingml/2006/main">
              <a:ext uri="{FF2B5EF4-FFF2-40B4-BE49-F238E27FC236}">
                <a16:creationId xmlns:a16="http://schemas.microsoft.com/office/drawing/2014/main" id="{F32A4E5A-9432-4863-9A05-B26F5DCEAEDE}"/>
              </a:ext>
            </a:extLst>
          </p:cNvPr>
          <p:cNvSpPr>
            <a:spLocks xmlns:a="http://schemas.openxmlformats.org/drawingml/2006/main" noGrp="1"/>
          </p:cNvSpPr>
          <p:nvPr/>
        </p:nvSpPr>
        <p:spPr>
          <a:xfrm xmlns:a="http://schemas.openxmlformats.org/drawingml/2006/main">
            <a:off x="685800" y="80010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654"/>
                </a:solidFill>
                <a:latin typeface="Arial"/>
                <a:ea typeface="Arial"/>
                <a:cs typeface="Arial"/>
              </a:defRPr>
            </a:pPr>
            <a:r>
              <a:rPr sz="3000" b="1">
                <a:solidFill>
                  <a:srgbClr val="0B3654"/>
                </a:solidFill>
                <a:latin typeface="Arial"/>
                <a:ea typeface="Arial"/>
                <a:cs typeface="Arial"/>
              </a:rPr>
              <a:t>MetaboCausal</a:t>
            </a:r>
          </a:p>
        </p:txBody>
      </p:sp>
      <p:sp>
        <p:nvSpPr>
          <p:cNvPr id="3" name="">
            <a:extLst xmlns:a="http://schemas.openxmlformats.org/drawingml/2006/main">
              <a:ext uri="{FF2B5EF4-FFF2-40B4-BE49-F238E27FC236}">
                <a16:creationId xmlns:a16="http://schemas.microsoft.com/office/drawing/2014/main" id="{E3452BB5-B8ED-482B-8409-CAAEA97893CF}"/>
              </a:ext>
            </a:extLst>
          </p:cNvPr>
          <p:cNvSpPr>
            <a:spLocks xmlns:a="http://schemas.openxmlformats.org/drawingml/2006/main" noGrp="1"/>
          </p:cNvSpPr>
          <p:nvPr/>
        </p:nvSpPr>
        <p:spPr>
          <a:xfrm xmlns:a="http://schemas.openxmlformats.org/drawingml/2006/main">
            <a:off x="685800" y="634365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MetaboCausal · AI Tinkerers Montréal · 12 Sep 2026</a:t>
            </a:r>
          </a:p>
        </p:txBody>
      </p:sp>
      <p:sp>
        <p:nvSpPr>
          <p:cNvPr id="4" name="">
            <a:extLst xmlns:a="http://schemas.openxmlformats.org/drawingml/2006/main">
              <a:ext uri="{FF2B5EF4-FFF2-40B4-BE49-F238E27FC236}">
                <a16:creationId xmlns:a16="http://schemas.microsoft.com/office/drawing/2014/main" id="{543427B6-B164-4999-B5D0-0898C68496B9}"/>
              </a:ext>
            </a:extLst>
          </p:cNvPr>
          <p:cNvSpPr>
            <a:spLocks xmlns:a="http://schemas.openxmlformats.org/drawingml/2006/main" noGrp="1"/>
          </p:cNvSpPr>
          <p:nvPr/>
        </p:nvSpPr>
        <p:spPr>
          <a:xfrm xmlns:a="http://schemas.openxmlformats.org/drawingml/2006/main">
            <a:off x="10953750" y="63436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19F0527-EB14-4D28-97C3-BB7D7F591CA1}"/>
              </a:ext>
            </a:extLst>
          </p:cNvPr>
          <p:cNvSpPr>
            <a:spLocks xmlns:a="http://schemas.openxmlformats.org/drawingml/2006/main" noGrp="1"/>
          </p:cNvSpPr>
          <p:nvPr/>
        </p:nvSpPr>
        <p:spPr>
          <a:xfrm xmlns:a="http://schemas.openxmlformats.org/drawingml/2006/main">
            <a:off x="685800" y="1638300"/>
            <a:ext cx="981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0">
                <a:solidFill>
                  <a:srgbClr val="0F172A"/>
                </a:solidFill>
                <a:latin typeface="Arial"/>
                <a:ea typeface="Arial"/>
                <a:cs typeface="Arial"/>
              </a:defRPr>
            </a:pPr>
            <a:r>
              <a:rPr sz="2250" b="0">
                <a:solidFill>
                  <a:srgbClr val="0F172A"/>
                </a:solidFill>
                <a:latin typeface="Arial"/>
                <a:ea typeface="Arial"/>
                <a:cs typeface="Arial"/>
              </a:rPr>
              <a:t>A Slack agent that traces evidence for metabolite-disease questions</a:t>
            </a:r>
          </a:p>
        </p:txBody>
      </p:sp>
      <p:sp>
        <p:nvSpPr>
          <p:cNvPr id="6" name="">
            <a:extLst xmlns:a="http://schemas.openxmlformats.org/drawingml/2006/main">
              <a:ext uri="{FF2B5EF4-FFF2-40B4-BE49-F238E27FC236}">
                <a16:creationId xmlns:a16="http://schemas.microsoft.com/office/drawing/2014/main" id="{EB672C12-7130-4FA9-8F16-AD6D01DD9294}"/>
              </a:ext>
            </a:extLst>
          </p:cNvPr>
          <p:cNvSpPr>
            <a:spLocks xmlns:a="http://schemas.openxmlformats.org/drawingml/2006/main" noGrp="1"/>
          </p:cNvSpPr>
          <p:nvPr/>
        </p:nvSpPr>
        <p:spPr>
          <a:xfrm xmlns:a="http://schemas.openxmlformats.org/drawingml/2006/main">
            <a:off x="685800" y="2857500"/>
            <a:ext cx="857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0E7490"/>
                </a:solidFill>
                <a:latin typeface="Arial"/>
                <a:ea typeface="Arial"/>
                <a:cs typeface="Arial"/>
              </a:defRPr>
            </a:pPr>
            <a:r>
              <a:rPr sz="2100" b="1">
                <a:solidFill>
                  <a:srgbClr val="0E7490"/>
                </a:solidFill>
                <a:latin typeface="Arial"/>
                <a:ea typeface="Arial"/>
                <a:cs typeface="Arial"/>
              </a:rPr>
              <a:t>One question in Slack. One checkable evidence card out.</a:t>
            </a:r>
          </a:p>
        </p:txBody>
      </p:sp>
      <p:sp>
        <p:nvSpPr>
          <p:cNvPr id="7" name="">
            <a:extLst xmlns:a="http://schemas.openxmlformats.org/drawingml/2006/main">
              <a:ext uri="{FF2B5EF4-FFF2-40B4-BE49-F238E27FC236}">
                <a16:creationId xmlns:a16="http://schemas.microsoft.com/office/drawing/2014/main" id="{A1679428-7F01-4146-8B51-BDBE31AFF0C2}"/>
              </a:ext>
            </a:extLst>
          </p:cNvPr>
          <p:cNvSpPr>
            <a:spLocks xmlns:a="http://schemas.openxmlformats.org/drawingml/2006/main" noGrp="1"/>
          </p:cNvSpPr>
          <p:nvPr/>
        </p:nvSpPr>
        <p:spPr>
          <a:xfrm xmlns:a="http://schemas.openxmlformats.org/drawingml/2006/main">
            <a:off x="685800" y="371475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0">
                <a:solidFill>
                  <a:srgbClr val="475569"/>
                </a:solidFill>
                <a:latin typeface="Arial"/>
                <a:ea typeface="Arial"/>
                <a:cs typeface="Arial"/>
              </a:defRPr>
            </a:pPr>
            <a:r>
              <a:rPr sz="1650" b="0">
                <a:solidFill>
                  <a:srgbClr val="475569"/>
                </a:solidFill>
                <a:latin typeface="Arial"/>
                <a:ea typeface="Arial"/>
                <a:cs typeface="Arial"/>
              </a:rPr>
              <a:t>Presented by Shucheng Cao and the MetaboCausal team</a:t>
            </a:r>
          </a:p>
        </p:txBody>
      </p:sp>
      <p:sp>
        <p:nvSpPr>
          <p:cNvPr id="8" name="">
            <a:extLst xmlns:a="http://schemas.openxmlformats.org/drawingml/2006/main">
              <a:ext uri="{FF2B5EF4-FFF2-40B4-BE49-F238E27FC236}">
                <a16:creationId xmlns:a16="http://schemas.microsoft.com/office/drawing/2014/main" id="{3FBADFA9-6B79-4845-8487-C50484F8CC44}"/>
              </a:ext>
            </a:extLst>
          </p:cNvPr>
          <p:cNvSpPr>
            <a:spLocks xmlns:a="http://schemas.openxmlformats.org/drawingml/2006/main" noGrp="1"/>
          </p:cNvSpPr>
          <p:nvPr/>
        </p:nvSpPr>
        <p:spPr>
          <a:xfrm xmlns:a="http://schemas.openxmlformats.org/drawingml/2006/main">
            <a:off x="685800" y="5467350"/>
            <a:ext cx="10172700" cy="552450"/>
          </a:xfrm>
          <a:prstGeom xmlns:a="http://schemas.openxmlformats.org/drawingml/2006/main" prst="rect">
            <a:avLst/>
          </a:prstGeom>
          <a:solidFill xmlns:a="http://schemas.openxmlformats.org/drawingml/2006/main">
            <a:srgbClr val="E0F2FE"/>
          </a:solidFill>
          <a:ln xmlns:a="http://schemas.openxmlformats.org/drawingml/2006/main" w="9525">
            <a:solidFill>
              <a:srgbClr val="BAE6FD"/>
            </a:solidFill>
          </a:ln>
        </p:spPr>
      </p:sp>
      <p:sp>
        <p:nvSpPr>
          <p:cNvPr id="9" name="">
            <a:extLst xmlns:a="http://schemas.openxmlformats.org/drawingml/2006/main">
              <a:ext uri="{FF2B5EF4-FFF2-40B4-BE49-F238E27FC236}">
                <a16:creationId xmlns:a16="http://schemas.microsoft.com/office/drawing/2014/main" id="{4B0172A5-A5E7-4FA5-8377-A1F330AA0889}"/>
              </a:ext>
            </a:extLst>
          </p:cNvPr>
          <p:cNvSpPr>
            <a:spLocks xmlns:a="http://schemas.openxmlformats.org/drawingml/2006/main" noGrp="1"/>
          </p:cNvSpPr>
          <p:nvPr/>
        </p:nvSpPr>
        <p:spPr>
          <a:xfrm xmlns:a="http://schemas.openxmlformats.org/drawingml/2006/main">
            <a:off x="914400" y="56007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0C4A6E"/>
                </a:solidFill>
                <a:latin typeface="Arial"/>
                <a:ea typeface="Arial"/>
                <a:cs typeface="Arial"/>
              </a:defRPr>
            </a:pPr>
            <a:r>
              <a:rPr sz="1500" b="1">
                <a:solidFill>
                  <a:srgbClr val="0C4A6E"/>
                </a:solidFill>
                <a:latin typeface="Arial"/>
                <a:ea typeface="Arial"/>
                <a:cs typeface="Arial"/>
              </a:rPr>
              <a:t>Say: We built a Slack agent that turns a science question into a checkable evidence card.</a:t>
            </a:r>
          </a:p>
        </p:txBody>
      </p:sp>
    </p:spTree>
    <p:extLst>
      <p:ext uri="{BB962C8B-B14F-4D97-AF65-F5344CB8AC3E}">
        <p14:creationId xmlns:p14="http://schemas.microsoft.com/office/powerpoint/2010/main" val="1883338643"/>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06A6C4A-5647-492E-889D-3C49BB780B39}"/>
              </a:ext>
            </a:extLst>
          </p:cNvPr>
          <p:cNvSpPr>
            <a:spLocks xmlns:a="http://schemas.openxmlformats.org/drawingml/2006/main" noGrp="1"/>
          </p:cNvSpPr>
          <p:nvPr/>
        </p:nvSpPr>
        <p:spPr>
          <a:xfrm xmlns:a="http://schemas.openxmlformats.org/drawingml/2006/main">
            <a:off x="685800" y="514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0E7490"/>
                </a:solidFill>
                <a:latin typeface="Arial"/>
                <a:ea typeface="Arial"/>
                <a:cs typeface="Arial"/>
              </a:defRPr>
            </a:pPr>
            <a:r>
              <a:rPr sz="1050" b="1">
                <a:solidFill>
                  <a:srgbClr val="0E7490"/>
                </a:solidFill>
                <a:latin typeface="Arial"/>
                <a:ea typeface="Arial"/>
                <a:cs typeface="Arial"/>
              </a:rPr>
              <a:t>WHY THIS MATTERS</a:t>
            </a:r>
          </a:p>
        </p:txBody>
      </p:sp>
      <p:sp>
        <p:nvSpPr>
          <p:cNvPr id="2" name="">
            <a:extLst xmlns:a="http://schemas.openxmlformats.org/drawingml/2006/main">
              <a:ext uri="{FF2B5EF4-FFF2-40B4-BE49-F238E27FC236}">
                <a16:creationId xmlns:a16="http://schemas.microsoft.com/office/drawing/2014/main" id="{FD1406AF-B566-4C90-8976-9E9D1F5C7FF6}"/>
              </a:ext>
            </a:extLst>
          </p:cNvPr>
          <p:cNvSpPr>
            <a:spLocks xmlns:a="http://schemas.openxmlformats.org/drawingml/2006/main" noGrp="1"/>
          </p:cNvSpPr>
          <p:nvPr/>
        </p:nvSpPr>
        <p:spPr>
          <a:xfrm xmlns:a="http://schemas.openxmlformats.org/drawingml/2006/main">
            <a:off x="685800" y="80010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654"/>
                </a:solidFill>
                <a:latin typeface="Arial"/>
                <a:ea typeface="Arial"/>
                <a:cs typeface="Arial"/>
              </a:defRPr>
            </a:pPr>
            <a:r>
              <a:rPr sz="3000" b="1">
                <a:solidFill>
                  <a:srgbClr val="0B3654"/>
                </a:solidFill>
                <a:latin typeface="Arial"/>
                <a:ea typeface="Arial"/>
                <a:cs typeface="Arial"/>
              </a:rPr>
              <a:t>The Problem</a:t>
            </a:r>
          </a:p>
        </p:txBody>
      </p:sp>
      <p:sp>
        <p:nvSpPr>
          <p:cNvPr id="3" name="">
            <a:extLst xmlns:a="http://schemas.openxmlformats.org/drawingml/2006/main">
              <a:ext uri="{FF2B5EF4-FFF2-40B4-BE49-F238E27FC236}">
                <a16:creationId xmlns:a16="http://schemas.microsoft.com/office/drawing/2014/main" id="{9C5768BF-B3DB-43C9-B9B8-492B71B6B333}"/>
              </a:ext>
            </a:extLst>
          </p:cNvPr>
          <p:cNvSpPr>
            <a:spLocks xmlns:a="http://schemas.openxmlformats.org/drawingml/2006/main" noGrp="1"/>
          </p:cNvSpPr>
          <p:nvPr/>
        </p:nvSpPr>
        <p:spPr>
          <a:xfrm xmlns:a="http://schemas.openxmlformats.org/drawingml/2006/main">
            <a:off x="685800" y="634365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MetaboCausal · AI Tinkerers Montréal · 12 Sep 2026</a:t>
            </a:r>
          </a:p>
        </p:txBody>
      </p:sp>
      <p:sp>
        <p:nvSpPr>
          <p:cNvPr id="4" name="">
            <a:extLst xmlns:a="http://schemas.openxmlformats.org/drawingml/2006/main">
              <a:ext uri="{FF2B5EF4-FFF2-40B4-BE49-F238E27FC236}">
                <a16:creationId xmlns:a16="http://schemas.microsoft.com/office/drawing/2014/main" id="{BC443452-3CDD-46AD-A45F-8F065BBF086C}"/>
              </a:ext>
            </a:extLst>
          </p:cNvPr>
          <p:cNvSpPr>
            <a:spLocks xmlns:a="http://schemas.openxmlformats.org/drawingml/2006/main" noGrp="1"/>
          </p:cNvSpPr>
          <p:nvPr/>
        </p:nvSpPr>
        <p:spPr>
          <a:xfrm xmlns:a="http://schemas.openxmlformats.org/drawingml/2006/main">
            <a:off x="10953750" y="63436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9422591-CB03-431B-BBF2-A8A9524929AC}"/>
              </a:ext>
            </a:extLst>
          </p:cNvPr>
          <p:cNvSpPr>
            <a:spLocks xmlns:a="http://schemas.openxmlformats.org/drawingml/2006/main" noGrp="1"/>
          </p:cNvSpPr>
          <p:nvPr/>
        </p:nvSpPr>
        <p:spPr>
          <a:xfrm xmlns:a="http://schemas.openxmlformats.org/drawingml/2006/main">
            <a:off x="685800" y="1600200"/>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556"/>
          </a:bodyPr>
          <a:lstStyle xmlns:a="http://schemas.openxmlformats.org/drawingml/2006/main"/>
          <a:p xmlns:a="http://schemas.openxmlformats.org/drawingml/2006/main">
            <a:pPr>
              <a:defRPr sz="2250" b="1">
                <a:solidFill>
                  <a:srgbClr val="0F172A"/>
                </a:solidFill>
                <a:latin typeface="Arial"/>
                <a:ea typeface="Arial"/>
                <a:cs typeface="Arial"/>
              </a:defRPr>
            </a:pPr>
            <a:r>
              <a:rPr sz="2250" b="1">
                <a:solidFill>
                  <a:srgbClr val="0F172A"/>
                </a:solidFill>
                <a:latin typeface="Arial"/>
                <a:ea typeface="Arial"/>
                <a:cs typeface="Arial"/>
              </a:rPr>
              <a:t>Biology gives us signals. We still need evidence.</a:t>
            </a:r>
          </a:p>
        </p:txBody>
      </p:sp>
      <p:sp>
        <p:nvSpPr>
          <p:cNvPr id="6" name="">
            <a:extLst xmlns:a="http://schemas.openxmlformats.org/drawingml/2006/main">
              <a:ext uri="{FF2B5EF4-FFF2-40B4-BE49-F238E27FC236}">
                <a16:creationId xmlns:a16="http://schemas.microsoft.com/office/drawing/2014/main" id="{D9D21EE6-8AF8-4D13-B809-2E076FBC555B}"/>
              </a:ext>
            </a:extLst>
          </p:cNvPr>
          <p:cNvSpPr>
            <a:spLocks xmlns:a="http://schemas.openxmlformats.org/drawingml/2006/main" noGrp="1"/>
          </p:cNvSpPr>
          <p:nvPr/>
        </p:nvSpPr>
        <p:spPr>
          <a:xfrm xmlns:a="http://schemas.openxmlformats.org/drawingml/2006/main">
            <a:off x="800100" y="2600325"/>
            <a:ext cx="95250" cy="95250"/>
          </a:xfrm>
          <a:prstGeom xmlns:a="http://schemas.openxmlformats.org/drawingml/2006/main" prst="ellipse">
            <a:avLst/>
          </a:prstGeom>
          <a:solidFill xmlns:a="http://schemas.openxmlformats.org/drawingml/2006/main">
            <a:srgbClr val="0E7490"/>
          </a:solidFill>
          <a:ln xmlns:a="http://schemas.openxmlformats.org/drawingml/2006/main" w="0">
            <a:solidFill>
              <a:srgbClr val="0E7490"/>
            </a:solidFill>
          </a:ln>
        </p:spPr>
      </p:sp>
      <p:sp>
        <p:nvSpPr>
          <p:cNvPr id="7" name="">
            <a:extLst xmlns:a="http://schemas.openxmlformats.org/drawingml/2006/main">
              <a:ext uri="{FF2B5EF4-FFF2-40B4-BE49-F238E27FC236}">
                <a16:creationId xmlns:a16="http://schemas.microsoft.com/office/drawing/2014/main" id="{6FF95B60-A1A4-437E-93E9-7F6BE9A2FDC0}"/>
              </a:ext>
            </a:extLst>
          </p:cNvPr>
          <p:cNvSpPr>
            <a:spLocks xmlns:a="http://schemas.openxmlformats.org/drawingml/2006/main" noGrp="1"/>
          </p:cNvSpPr>
          <p:nvPr/>
        </p:nvSpPr>
        <p:spPr>
          <a:xfrm xmlns:a="http://schemas.openxmlformats.org/drawingml/2006/main">
            <a:off x="1047750" y="2495550"/>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0F172A"/>
                </a:solidFill>
                <a:latin typeface="Arial"/>
                <a:ea typeface="Arial"/>
                <a:cs typeface="Arial"/>
              </a:defRPr>
            </a:pPr>
            <a:r>
              <a:rPr sz="1800" b="0">
                <a:solidFill>
                  <a:srgbClr val="0F172A"/>
                </a:solidFill>
                <a:latin typeface="Arial"/>
                <a:ea typeface="Arial"/>
                <a:cs typeface="Arial"/>
              </a:rPr>
              <a:t>A molecule can be associated with disease without causing it.</a:t>
            </a:r>
          </a:p>
        </p:txBody>
      </p:sp>
      <p:sp>
        <p:nvSpPr>
          <p:cNvPr id="8" name="">
            <a:extLst xmlns:a="http://schemas.openxmlformats.org/drawingml/2006/main">
              <a:ext uri="{FF2B5EF4-FFF2-40B4-BE49-F238E27FC236}">
                <a16:creationId xmlns:a16="http://schemas.microsoft.com/office/drawing/2014/main" id="{372CCB83-FEF9-4EEC-A14D-ABDB56F432AF}"/>
              </a:ext>
            </a:extLst>
          </p:cNvPr>
          <p:cNvSpPr>
            <a:spLocks xmlns:a="http://schemas.openxmlformats.org/drawingml/2006/main" noGrp="1"/>
          </p:cNvSpPr>
          <p:nvPr/>
        </p:nvSpPr>
        <p:spPr>
          <a:xfrm xmlns:a="http://schemas.openxmlformats.org/drawingml/2006/main">
            <a:off x="800100" y="3228975"/>
            <a:ext cx="95250" cy="9525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ln>
        </p:spPr>
      </p:sp>
      <p:sp>
        <p:nvSpPr>
          <p:cNvPr id="9" name="">
            <a:extLst xmlns:a="http://schemas.openxmlformats.org/drawingml/2006/main">
              <a:ext uri="{FF2B5EF4-FFF2-40B4-BE49-F238E27FC236}">
                <a16:creationId xmlns:a16="http://schemas.microsoft.com/office/drawing/2014/main" id="{164537A6-9592-49B9-AD88-8ABE0D8AF8D5}"/>
              </a:ext>
            </a:extLst>
          </p:cNvPr>
          <p:cNvSpPr>
            <a:spLocks xmlns:a="http://schemas.openxmlformats.org/drawingml/2006/main" noGrp="1"/>
          </p:cNvSpPr>
          <p:nvPr/>
        </p:nvSpPr>
        <p:spPr>
          <a:xfrm xmlns:a="http://schemas.openxmlformats.org/drawingml/2006/main">
            <a:off x="1047750" y="3124200"/>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0F172A"/>
                </a:solidFill>
                <a:latin typeface="Arial"/>
                <a:ea typeface="Arial"/>
                <a:cs typeface="Arial"/>
              </a:defRPr>
            </a:pPr>
            <a:r>
              <a:rPr sz="1800" b="0">
                <a:solidFill>
                  <a:srgbClr val="0F172A"/>
                </a:solidFill>
                <a:latin typeface="Arial"/>
                <a:ea typeface="Arial"/>
                <a:cs typeface="Arial"/>
              </a:rPr>
              <a:t>Evidence is scattered across papers, genetics, targets and trials.</a:t>
            </a:r>
          </a:p>
        </p:txBody>
      </p:sp>
      <p:sp>
        <p:nvSpPr>
          <p:cNvPr id="10" name="">
            <a:extLst xmlns:a="http://schemas.openxmlformats.org/drawingml/2006/main">
              <a:ext uri="{FF2B5EF4-FFF2-40B4-BE49-F238E27FC236}">
                <a16:creationId xmlns:a16="http://schemas.microsoft.com/office/drawing/2014/main" id="{12B244BD-2835-4046-8D9D-ADADD2C1EB96}"/>
              </a:ext>
            </a:extLst>
          </p:cNvPr>
          <p:cNvSpPr>
            <a:spLocks xmlns:a="http://schemas.openxmlformats.org/drawingml/2006/main" noGrp="1"/>
          </p:cNvSpPr>
          <p:nvPr/>
        </p:nvSpPr>
        <p:spPr>
          <a:xfrm xmlns:a="http://schemas.openxmlformats.org/drawingml/2006/main">
            <a:off x="800100" y="3857625"/>
            <a:ext cx="95250" cy="95250"/>
          </a:xfrm>
          <a:prstGeom xmlns:a="http://schemas.openxmlformats.org/drawingml/2006/main" prst="ellipse">
            <a:avLst/>
          </a:prstGeom>
          <a:solidFill xmlns:a="http://schemas.openxmlformats.org/drawingml/2006/main">
            <a:srgbClr val="B45309"/>
          </a:solidFill>
          <a:ln xmlns:a="http://schemas.openxmlformats.org/drawingml/2006/main" w="0">
            <a:solidFill>
              <a:srgbClr val="B45309"/>
            </a:solidFill>
          </a:ln>
        </p:spPr>
      </p:sp>
      <p:sp>
        <p:nvSpPr>
          <p:cNvPr id="11" name="">
            <a:extLst xmlns:a="http://schemas.openxmlformats.org/drawingml/2006/main">
              <a:ext uri="{FF2B5EF4-FFF2-40B4-BE49-F238E27FC236}">
                <a16:creationId xmlns:a16="http://schemas.microsoft.com/office/drawing/2014/main" id="{A0C0F33F-AD7A-4BCB-9F00-C54EB78B2321}"/>
              </a:ext>
            </a:extLst>
          </p:cNvPr>
          <p:cNvSpPr>
            <a:spLocks xmlns:a="http://schemas.openxmlformats.org/drawingml/2006/main" noGrp="1"/>
          </p:cNvSpPr>
          <p:nvPr/>
        </p:nvSpPr>
        <p:spPr>
          <a:xfrm xmlns:a="http://schemas.openxmlformats.org/drawingml/2006/main">
            <a:off x="1047750" y="3752850"/>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0F172A"/>
                </a:solidFill>
                <a:latin typeface="Arial"/>
                <a:ea typeface="Arial"/>
                <a:cs typeface="Arial"/>
              </a:defRPr>
            </a:pPr>
            <a:r>
              <a:rPr sz="1800" b="0">
                <a:solidFill>
                  <a:srgbClr val="0F172A"/>
                </a:solidFill>
                <a:latin typeface="Arial"/>
                <a:ea typeface="Arial"/>
                <a:cs typeface="Arial"/>
              </a:rPr>
              <a:t>Manual review takes time; AI can sound confident without support.</a:t>
            </a:r>
          </a:p>
        </p:txBody>
      </p:sp>
      <p:sp>
        <p:nvSpPr>
          <p:cNvPr id="12" name="">
            <a:extLst xmlns:a="http://schemas.openxmlformats.org/drawingml/2006/main">
              <a:ext uri="{FF2B5EF4-FFF2-40B4-BE49-F238E27FC236}">
                <a16:creationId xmlns:a16="http://schemas.microsoft.com/office/drawing/2014/main" id="{12A62BB6-055A-40C6-A449-A7162E24377E}"/>
              </a:ext>
            </a:extLst>
          </p:cNvPr>
          <p:cNvSpPr>
            <a:spLocks xmlns:a="http://schemas.openxmlformats.org/drawingml/2006/main" noGrp="1"/>
          </p:cNvSpPr>
          <p:nvPr/>
        </p:nvSpPr>
        <p:spPr>
          <a:xfrm xmlns:a="http://schemas.openxmlformats.org/drawingml/2006/main">
            <a:off x="685800" y="5467350"/>
            <a:ext cx="10172700" cy="552450"/>
          </a:xfrm>
          <a:prstGeom xmlns:a="http://schemas.openxmlformats.org/drawingml/2006/main" prst="rect">
            <a:avLst/>
          </a:prstGeom>
          <a:solidFill xmlns:a="http://schemas.openxmlformats.org/drawingml/2006/main">
            <a:srgbClr val="E0F2FE"/>
          </a:solidFill>
          <a:ln xmlns:a="http://schemas.openxmlformats.org/drawingml/2006/main" w="9525">
            <a:solidFill>
              <a:srgbClr val="BAE6FD"/>
            </a:solidFill>
          </a:ln>
        </p:spPr>
      </p:sp>
      <p:sp>
        <p:nvSpPr>
          <p:cNvPr id="13" name="">
            <a:extLst xmlns:a="http://schemas.openxmlformats.org/drawingml/2006/main">
              <a:ext uri="{FF2B5EF4-FFF2-40B4-BE49-F238E27FC236}">
                <a16:creationId xmlns:a16="http://schemas.microsoft.com/office/drawing/2014/main" id="{077C7803-FA6C-4BE3-87C6-2E7B36181EE8}"/>
              </a:ext>
            </a:extLst>
          </p:cNvPr>
          <p:cNvSpPr>
            <a:spLocks xmlns:a="http://schemas.openxmlformats.org/drawingml/2006/main" noGrp="1"/>
          </p:cNvSpPr>
          <p:nvPr/>
        </p:nvSpPr>
        <p:spPr>
          <a:xfrm xmlns:a="http://schemas.openxmlformats.org/drawingml/2006/main">
            <a:off x="914400" y="56007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0C4A6E"/>
                </a:solidFill>
                <a:latin typeface="Arial"/>
                <a:ea typeface="Arial"/>
                <a:cs typeface="Arial"/>
              </a:defRPr>
            </a:pPr>
            <a:r>
              <a:rPr sz="1500" b="1">
                <a:solidFill>
                  <a:srgbClr val="0C4A6E"/>
                </a:solidFill>
                <a:latin typeface="Arial"/>
                <a:ea typeface="Arial"/>
                <a:cs typeface="Arial"/>
              </a:rPr>
              <a:t>Say: The hard part is not finding a signal. The hard part is checking what the signal means.</a:t>
            </a:r>
          </a:p>
        </p:txBody>
      </p:sp>
    </p:spTree>
    <p:extLst>
      <p:ext uri="{BB962C8B-B14F-4D97-AF65-F5344CB8AC3E}">
        <p14:creationId xmlns:p14="http://schemas.microsoft.com/office/powerpoint/2010/main" val="1868935606"/>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F08260A-B46E-42C6-9A65-AD3C36FA5B1A}"/>
              </a:ext>
            </a:extLst>
          </p:cNvPr>
          <p:cNvSpPr>
            <a:spLocks xmlns:a="http://schemas.openxmlformats.org/drawingml/2006/main" noGrp="1"/>
          </p:cNvSpPr>
          <p:nvPr/>
        </p:nvSpPr>
        <p:spPr>
          <a:xfrm xmlns:a="http://schemas.openxmlformats.org/drawingml/2006/main">
            <a:off x="685800" y="514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0E7490"/>
                </a:solidFill>
                <a:latin typeface="Arial"/>
                <a:ea typeface="Arial"/>
                <a:cs typeface="Arial"/>
              </a:defRPr>
            </a:pPr>
            <a:r>
              <a:rPr sz="1050" b="1">
                <a:solidFill>
                  <a:srgbClr val="0E7490"/>
                </a:solidFill>
                <a:latin typeface="Arial"/>
                <a:ea typeface="Arial"/>
                <a:cs typeface="Arial"/>
              </a:rPr>
              <a:t>SCIENTIFIC FRAMING</a:t>
            </a:r>
          </a:p>
        </p:txBody>
      </p:sp>
      <p:sp>
        <p:nvSpPr>
          <p:cNvPr id="2" name="">
            <a:extLst xmlns:a="http://schemas.openxmlformats.org/drawingml/2006/main">
              <a:ext uri="{FF2B5EF4-FFF2-40B4-BE49-F238E27FC236}">
                <a16:creationId xmlns:a16="http://schemas.microsoft.com/office/drawing/2014/main" id="{8A2A8225-ECF8-4949-A585-A4278A8F78DF}"/>
              </a:ext>
            </a:extLst>
          </p:cNvPr>
          <p:cNvSpPr>
            <a:spLocks xmlns:a="http://schemas.openxmlformats.org/drawingml/2006/main" noGrp="1"/>
          </p:cNvSpPr>
          <p:nvPr/>
        </p:nvSpPr>
        <p:spPr>
          <a:xfrm xmlns:a="http://schemas.openxmlformats.org/drawingml/2006/main">
            <a:off x="685800" y="80010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654"/>
                </a:solidFill>
                <a:latin typeface="Arial"/>
                <a:ea typeface="Arial"/>
                <a:cs typeface="Arial"/>
              </a:defRPr>
            </a:pPr>
            <a:r>
              <a:rPr sz="3000" b="1">
                <a:solidFill>
                  <a:srgbClr val="0B3654"/>
                </a:solidFill>
                <a:latin typeface="Arial"/>
                <a:ea typeface="Arial"/>
                <a:cs typeface="Arial"/>
              </a:rPr>
              <a:t>The Causal Gap</a:t>
            </a:r>
          </a:p>
        </p:txBody>
      </p:sp>
      <p:sp>
        <p:nvSpPr>
          <p:cNvPr id="3" name="">
            <a:extLst xmlns:a="http://schemas.openxmlformats.org/drawingml/2006/main">
              <a:ext uri="{FF2B5EF4-FFF2-40B4-BE49-F238E27FC236}">
                <a16:creationId xmlns:a16="http://schemas.microsoft.com/office/drawing/2014/main" id="{95491199-9D54-41D3-99D9-92D90D2DE8DA}"/>
              </a:ext>
            </a:extLst>
          </p:cNvPr>
          <p:cNvSpPr>
            <a:spLocks xmlns:a="http://schemas.openxmlformats.org/drawingml/2006/main" noGrp="1"/>
          </p:cNvSpPr>
          <p:nvPr/>
        </p:nvSpPr>
        <p:spPr>
          <a:xfrm xmlns:a="http://schemas.openxmlformats.org/drawingml/2006/main">
            <a:off x="685800" y="634365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MetaboCausal · AI Tinkerers Montréal · 12 Sep 2026</a:t>
            </a:r>
          </a:p>
        </p:txBody>
      </p:sp>
      <p:sp>
        <p:nvSpPr>
          <p:cNvPr id="4" name="">
            <a:extLst xmlns:a="http://schemas.openxmlformats.org/drawingml/2006/main">
              <a:ext uri="{FF2B5EF4-FFF2-40B4-BE49-F238E27FC236}">
                <a16:creationId xmlns:a16="http://schemas.microsoft.com/office/drawing/2014/main" id="{A3ADDEF0-F4E1-489F-90B1-27A33EED9A9B}"/>
              </a:ext>
            </a:extLst>
          </p:cNvPr>
          <p:cNvSpPr>
            <a:spLocks xmlns:a="http://schemas.openxmlformats.org/drawingml/2006/main" noGrp="1"/>
          </p:cNvSpPr>
          <p:nvPr/>
        </p:nvSpPr>
        <p:spPr>
          <a:xfrm xmlns:a="http://schemas.openxmlformats.org/drawingml/2006/main">
            <a:off x="10953750" y="63436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1C4B9E7-A3F4-42F9-BE1B-22A6CB88DF08}"/>
              </a:ext>
            </a:extLst>
          </p:cNvPr>
          <p:cNvSpPr>
            <a:spLocks xmlns:a="http://schemas.openxmlformats.org/drawingml/2006/main" noGrp="1"/>
          </p:cNvSpPr>
          <p:nvPr/>
        </p:nvSpPr>
        <p:spPr>
          <a:xfrm xmlns:a="http://schemas.openxmlformats.org/drawingml/2006/main">
            <a:off x="685800" y="16002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000"/>
          </a:bodyPr>
          <a:lstStyle xmlns:a="http://schemas.openxmlformats.org/drawingml/2006/main"/>
          <a:p xmlns:a="http://schemas.openxmlformats.org/drawingml/2006/main">
            <a:pPr>
              <a:defRPr sz="2250" b="1">
                <a:solidFill>
                  <a:srgbClr val="0F172A"/>
                </a:solidFill>
                <a:latin typeface="Arial"/>
                <a:ea typeface="Arial"/>
                <a:cs typeface="Arial"/>
              </a:defRPr>
            </a:pPr>
            <a:r>
              <a:rPr sz="2250" b="1">
                <a:solidFill>
                  <a:srgbClr val="0F172A"/>
                </a:solidFill>
                <a:latin typeface="Arial"/>
                <a:ea typeface="Arial"/>
                <a:cs typeface="Arial"/>
              </a:rPr>
              <a:t>A blood marker, a gene target and a drug outcome are related, but they are not the same claim.</a:t>
            </a:r>
          </a:p>
        </p:txBody>
      </p:sp>
      <p:sp>
        <p:nvSpPr>
          <p:cNvPr id="6" name="">
            <a:extLst xmlns:a="http://schemas.openxmlformats.org/drawingml/2006/main">
              <a:ext uri="{FF2B5EF4-FFF2-40B4-BE49-F238E27FC236}">
                <a16:creationId xmlns:a16="http://schemas.microsoft.com/office/drawing/2014/main" id="{8B9948C1-A257-4423-B6C6-8B6AB3ABAA0F}"/>
              </a:ext>
            </a:extLst>
          </p:cNvPr>
          <p:cNvSpPr>
            <a:spLocks xmlns:a="http://schemas.openxmlformats.org/drawingml/2006/main" noGrp="1"/>
          </p:cNvSpPr>
          <p:nvPr/>
        </p:nvSpPr>
        <p:spPr>
          <a:xfrm xmlns:a="http://schemas.openxmlformats.org/drawingml/2006/main">
            <a:off x="876300" y="2952750"/>
            <a:ext cx="18669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ln>
        </p:spPr>
      </p:sp>
      <p:sp>
        <p:nvSpPr>
          <p:cNvPr id="7" name="">
            <a:extLst xmlns:a="http://schemas.openxmlformats.org/drawingml/2006/main">
              <a:ext uri="{FF2B5EF4-FFF2-40B4-BE49-F238E27FC236}">
                <a16:creationId xmlns:a16="http://schemas.microsoft.com/office/drawing/2014/main" id="{33406639-BF1D-40FF-ABE5-6F5111AC9700}"/>
              </a:ext>
            </a:extLst>
          </p:cNvPr>
          <p:cNvSpPr>
            <a:spLocks xmlns:a="http://schemas.openxmlformats.org/drawingml/2006/main" noGrp="1"/>
          </p:cNvSpPr>
          <p:nvPr/>
        </p:nvSpPr>
        <p:spPr>
          <a:xfrm xmlns:a="http://schemas.openxmlformats.org/drawingml/2006/main">
            <a:off x="1047750" y="321945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848"/>
          </a:bodyPr>
          <a:lstStyle xmlns:a="http://schemas.openxmlformats.org/drawingml/2006/main"/>
          <a:p xmlns:a="http://schemas.openxmlformats.org/drawingml/2006/main">
            <a:pPr>
              <a:defRPr sz="1650" b="1">
                <a:solidFill>
                  <a:srgbClr val="0E7490"/>
                </a:solidFill>
                <a:latin typeface="Arial"/>
                <a:ea typeface="Arial"/>
                <a:cs typeface="Arial"/>
              </a:defRPr>
            </a:pPr>
            <a:r>
              <a:rPr sz="1650" b="1">
                <a:solidFill>
                  <a:srgbClr val="0E7490"/>
                </a:solidFill>
                <a:latin typeface="Arial"/>
                <a:ea typeface="Arial"/>
                <a:cs typeface="Arial"/>
              </a:rPr>
              <a:t>Molecule</a:t>
            </a:r>
          </a:p>
        </p:txBody>
      </p:sp>
      <p:sp>
        <p:nvSpPr>
          <p:cNvPr id="8" name="">
            <a:extLst xmlns:a="http://schemas.openxmlformats.org/drawingml/2006/main">
              <a:ext uri="{FF2B5EF4-FFF2-40B4-BE49-F238E27FC236}">
                <a16:creationId xmlns:a16="http://schemas.microsoft.com/office/drawing/2014/main" id="{85560A28-D9C1-4402-A1F4-683389ECBA99}"/>
              </a:ext>
            </a:extLst>
          </p:cNvPr>
          <p:cNvSpPr>
            <a:spLocks xmlns:a="http://schemas.openxmlformats.org/drawingml/2006/main" noGrp="1"/>
          </p:cNvSpPr>
          <p:nvPr/>
        </p:nvSpPr>
        <p:spPr>
          <a:xfrm xmlns:a="http://schemas.openxmlformats.org/drawingml/2006/main">
            <a:off x="3448050" y="2952750"/>
            <a:ext cx="18669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ln>
        </p:spPr>
      </p:sp>
      <p:sp>
        <p:nvSpPr>
          <p:cNvPr id="9" name="">
            <a:extLst xmlns:a="http://schemas.openxmlformats.org/drawingml/2006/main">
              <a:ext uri="{FF2B5EF4-FFF2-40B4-BE49-F238E27FC236}">
                <a16:creationId xmlns:a16="http://schemas.microsoft.com/office/drawing/2014/main" id="{2CDE0456-4DC5-4B20-A223-0F5F8A5D51AF}"/>
              </a:ext>
            </a:extLst>
          </p:cNvPr>
          <p:cNvSpPr>
            <a:spLocks xmlns:a="http://schemas.openxmlformats.org/drawingml/2006/main" noGrp="1"/>
          </p:cNvSpPr>
          <p:nvPr/>
        </p:nvSpPr>
        <p:spPr>
          <a:xfrm xmlns:a="http://schemas.openxmlformats.org/drawingml/2006/main">
            <a:off x="3619500" y="321945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848"/>
          </a:bodyPr>
          <a:lstStyle xmlns:a="http://schemas.openxmlformats.org/drawingml/2006/main"/>
          <a:p xmlns:a="http://schemas.openxmlformats.org/drawingml/2006/main">
            <a:pPr>
              <a:defRPr sz="1650" b="1">
                <a:solidFill>
                  <a:srgbClr val="15803D"/>
                </a:solidFill>
                <a:latin typeface="Arial"/>
                <a:ea typeface="Arial"/>
                <a:cs typeface="Arial"/>
              </a:defRPr>
            </a:pPr>
            <a:r>
              <a:rPr sz="1650" b="1">
                <a:solidFill>
                  <a:srgbClr val="15803D"/>
                </a:solidFill>
                <a:latin typeface="Arial"/>
                <a:ea typeface="Arial"/>
                <a:cs typeface="Arial"/>
              </a:rPr>
              <a:t>Gene / target</a:t>
            </a:r>
          </a:p>
        </p:txBody>
      </p:sp>
      <p:sp>
        <p:nvSpPr>
          <p:cNvPr id="10" name="">
            <a:extLst xmlns:a="http://schemas.openxmlformats.org/drawingml/2006/main">
              <a:ext uri="{FF2B5EF4-FFF2-40B4-BE49-F238E27FC236}">
                <a16:creationId xmlns:a16="http://schemas.microsoft.com/office/drawing/2014/main" id="{06117305-6AC7-4262-8BF0-696D4BB4E0EF}"/>
              </a:ext>
            </a:extLst>
          </p:cNvPr>
          <p:cNvSpPr>
            <a:spLocks xmlns:a="http://schemas.openxmlformats.org/drawingml/2006/main" noGrp="1"/>
          </p:cNvSpPr>
          <p:nvPr/>
        </p:nvSpPr>
        <p:spPr>
          <a:xfrm xmlns:a="http://schemas.openxmlformats.org/drawingml/2006/main">
            <a:off x="6019800" y="2952750"/>
            <a:ext cx="18669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ln>
        </p:spPr>
      </p:sp>
      <p:sp>
        <p:nvSpPr>
          <p:cNvPr id="11" name="">
            <a:extLst xmlns:a="http://schemas.openxmlformats.org/drawingml/2006/main">
              <a:ext uri="{FF2B5EF4-FFF2-40B4-BE49-F238E27FC236}">
                <a16:creationId xmlns:a16="http://schemas.microsoft.com/office/drawing/2014/main" id="{CBFD56DA-0BEA-49DF-AF47-C02396CDFFF5}"/>
              </a:ext>
            </a:extLst>
          </p:cNvPr>
          <p:cNvSpPr>
            <a:spLocks xmlns:a="http://schemas.openxmlformats.org/drawingml/2006/main" noGrp="1"/>
          </p:cNvSpPr>
          <p:nvPr/>
        </p:nvSpPr>
        <p:spPr>
          <a:xfrm xmlns:a="http://schemas.openxmlformats.org/drawingml/2006/main">
            <a:off x="6191250" y="321945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848"/>
          </a:bodyPr>
          <a:lstStyle xmlns:a="http://schemas.openxmlformats.org/drawingml/2006/main"/>
          <a:p xmlns:a="http://schemas.openxmlformats.org/drawingml/2006/main">
            <a:pPr>
              <a:defRPr sz="1650" b="1">
                <a:solidFill>
                  <a:srgbClr val="7C3AED"/>
                </a:solidFill>
                <a:latin typeface="Arial"/>
                <a:ea typeface="Arial"/>
                <a:cs typeface="Arial"/>
              </a:defRPr>
            </a:pPr>
            <a:r>
              <a:rPr sz="1650" b="1">
                <a:solidFill>
                  <a:srgbClr val="7C3AED"/>
                </a:solidFill>
                <a:latin typeface="Arial"/>
                <a:ea typeface="Arial"/>
                <a:cs typeface="Arial"/>
              </a:rPr>
              <a:t>Disease</a:t>
            </a:r>
          </a:p>
        </p:txBody>
      </p:sp>
      <p:sp>
        <p:nvSpPr>
          <p:cNvPr id="12" name="">
            <a:extLst xmlns:a="http://schemas.openxmlformats.org/drawingml/2006/main">
              <a:ext uri="{FF2B5EF4-FFF2-40B4-BE49-F238E27FC236}">
                <a16:creationId xmlns:a16="http://schemas.microsoft.com/office/drawing/2014/main" id="{55859C3B-EACF-45E6-9BB7-7A4F8BEB2750}"/>
              </a:ext>
            </a:extLst>
          </p:cNvPr>
          <p:cNvSpPr>
            <a:spLocks xmlns:a="http://schemas.openxmlformats.org/drawingml/2006/main" noGrp="1"/>
          </p:cNvSpPr>
          <p:nvPr/>
        </p:nvSpPr>
        <p:spPr>
          <a:xfrm xmlns:a="http://schemas.openxmlformats.org/drawingml/2006/main">
            <a:off x="8591550" y="2952750"/>
            <a:ext cx="18669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ln>
        </p:spPr>
      </p:sp>
      <p:sp>
        <p:nvSpPr>
          <p:cNvPr id="13" name="">
            <a:extLst xmlns:a="http://schemas.openxmlformats.org/drawingml/2006/main">
              <a:ext uri="{FF2B5EF4-FFF2-40B4-BE49-F238E27FC236}">
                <a16:creationId xmlns:a16="http://schemas.microsoft.com/office/drawing/2014/main" id="{7F1137CE-850F-4603-99CB-C70FEF133CDF}"/>
              </a:ext>
            </a:extLst>
          </p:cNvPr>
          <p:cNvSpPr>
            <a:spLocks xmlns:a="http://schemas.openxmlformats.org/drawingml/2006/main" noGrp="1"/>
          </p:cNvSpPr>
          <p:nvPr/>
        </p:nvSpPr>
        <p:spPr>
          <a:xfrm xmlns:a="http://schemas.openxmlformats.org/drawingml/2006/main">
            <a:off x="8763000" y="321945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957"/>
          </a:bodyPr>
          <a:lstStyle xmlns:a="http://schemas.openxmlformats.org/drawingml/2006/main"/>
          <a:p xmlns:a="http://schemas.openxmlformats.org/drawingml/2006/main">
            <a:pPr>
              <a:defRPr sz="1650" b="1">
                <a:solidFill>
                  <a:srgbClr val="B45309"/>
                </a:solidFill>
                <a:latin typeface="Arial"/>
                <a:ea typeface="Arial"/>
                <a:cs typeface="Arial"/>
              </a:defRPr>
            </a:pPr>
            <a:r>
              <a:rPr sz="1650" b="1">
                <a:solidFill>
                  <a:srgbClr val="B45309"/>
                </a:solidFill>
                <a:latin typeface="Arial"/>
                <a:ea typeface="Arial"/>
                <a:cs typeface="Arial"/>
              </a:rPr>
              <a:t>Clinical outcome</a:t>
            </a:r>
          </a:p>
        </p:txBody>
      </p:sp>
      <p:sp>
        <p:nvSpPr>
          <p:cNvPr id="14" name="">
            <a:extLst xmlns:a="http://schemas.openxmlformats.org/drawingml/2006/main">
              <a:ext uri="{FF2B5EF4-FFF2-40B4-BE49-F238E27FC236}">
                <a16:creationId xmlns:a16="http://schemas.microsoft.com/office/drawing/2014/main" id="{15621A41-AF9B-4584-91F0-23258F3E5E5C}"/>
              </a:ext>
            </a:extLst>
          </p:cNvPr>
          <p:cNvSpPr>
            <a:spLocks xmlns:a="http://schemas.openxmlformats.org/drawingml/2006/main" noGrp="1"/>
          </p:cNvSpPr>
          <p:nvPr/>
        </p:nvSpPr>
        <p:spPr>
          <a:xfrm xmlns:a="http://schemas.openxmlformats.org/drawingml/2006/main">
            <a:off x="876300" y="4324350"/>
            <a:ext cx="914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210"/>
          </a:bodyPr>
          <a:lstStyle xmlns:a="http://schemas.openxmlformats.org/drawingml/2006/main"/>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MetaboCausal keeps these levels separate, so a useful signal does not become an unsupported target claim.</a:t>
            </a:r>
          </a:p>
        </p:txBody>
      </p:sp>
      <p:sp>
        <p:nvSpPr>
          <p:cNvPr id="15" name="">
            <a:extLst xmlns:a="http://schemas.openxmlformats.org/drawingml/2006/main">
              <a:ext uri="{FF2B5EF4-FFF2-40B4-BE49-F238E27FC236}">
                <a16:creationId xmlns:a16="http://schemas.microsoft.com/office/drawing/2014/main" id="{3F81E13E-4D94-4C83-B0E9-BD588AAFA16A}"/>
              </a:ext>
            </a:extLst>
          </p:cNvPr>
          <p:cNvSpPr>
            <a:spLocks xmlns:a="http://schemas.openxmlformats.org/drawingml/2006/main" noGrp="1"/>
          </p:cNvSpPr>
          <p:nvPr/>
        </p:nvSpPr>
        <p:spPr>
          <a:xfrm xmlns:a="http://schemas.openxmlformats.org/drawingml/2006/main">
            <a:off x="685800" y="5467350"/>
            <a:ext cx="10172700" cy="552450"/>
          </a:xfrm>
          <a:prstGeom xmlns:a="http://schemas.openxmlformats.org/drawingml/2006/main" prst="rect">
            <a:avLst/>
          </a:prstGeom>
          <a:solidFill xmlns:a="http://schemas.openxmlformats.org/drawingml/2006/main">
            <a:srgbClr val="E0F2FE"/>
          </a:solidFill>
          <a:ln xmlns:a="http://schemas.openxmlformats.org/drawingml/2006/main" w="9525">
            <a:solidFill>
              <a:srgbClr val="BAE6FD"/>
            </a:solidFill>
          </a:ln>
        </p:spPr>
      </p:sp>
      <p:sp>
        <p:nvSpPr>
          <p:cNvPr id="16" name="">
            <a:extLst xmlns:a="http://schemas.openxmlformats.org/drawingml/2006/main">
              <a:ext uri="{FF2B5EF4-FFF2-40B4-BE49-F238E27FC236}">
                <a16:creationId xmlns:a16="http://schemas.microsoft.com/office/drawing/2014/main" id="{41FC7EBF-B54A-4AD2-A4E9-F4D658372D4C}"/>
              </a:ext>
            </a:extLst>
          </p:cNvPr>
          <p:cNvSpPr>
            <a:spLocks xmlns:a="http://schemas.openxmlformats.org/drawingml/2006/main" noGrp="1"/>
          </p:cNvSpPr>
          <p:nvPr/>
        </p:nvSpPr>
        <p:spPr>
          <a:xfrm xmlns:a="http://schemas.openxmlformats.org/drawingml/2006/main">
            <a:off x="914400" y="56007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0C4A6E"/>
                </a:solidFill>
                <a:latin typeface="Arial"/>
                <a:ea typeface="Arial"/>
                <a:cs typeface="Arial"/>
              </a:defRPr>
            </a:pPr>
            <a:r>
              <a:rPr sz="1500" b="1">
                <a:solidFill>
                  <a:srgbClr val="0C4A6E"/>
                </a:solidFill>
                <a:latin typeface="Arial"/>
                <a:ea typeface="Arial"/>
                <a:cs typeface="Arial"/>
              </a:rPr>
              <a:t>Say: This is the scientific boundary we tried to keep visible.</a:t>
            </a:r>
          </a:p>
        </p:txBody>
      </p:sp>
    </p:spTree>
    <p:extLst>
      <p:ext uri="{BB962C8B-B14F-4D97-AF65-F5344CB8AC3E}">
        <p14:creationId xmlns:p14="http://schemas.microsoft.com/office/powerpoint/2010/main" val="248193059"/>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A6A85ED-9DDB-48F7-B46B-9CCCACB61B09}"/>
              </a:ext>
            </a:extLst>
          </p:cNvPr>
          <p:cNvSpPr>
            <a:spLocks xmlns:a="http://schemas.openxmlformats.org/drawingml/2006/main" noGrp="1"/>
          </p:cNvSpPr>
          <p:nvPr/>
        </p:nvSpPr>
        <p:spPr>
          <a:xfrm xmlns:a="http://schemas.openxmlformats.org/drawingml/2006/main">
            <a:off x="685800" y="514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0E7490"/>
                </a:solidFill>
                <a:latin typeface="Arial"/>
                <a:ea typeface="Arial"/>
                <a:cs typeface="Arial"/>
              </a:defRPr>
            </a:pPr>
            <a:r>
              <a:rPr sz="1050" b="1">
                <a:solidFill>
                  <a:srgbClr val="0E7490"/>
                </a:solidFill>
                <a:latin typeface="Arial"/>
                <a:ea typeface="Arial"/>
                <a:cs typeface="Arial"/>
              </a:rPr>
              <a:t>A / B / C STATES</a:t>
            </a:r>
          </a:p>
        </p:txBody>
      </p:sp>
      <p:sp>
        <p:nvSpPr>
          <p:cNvPr id="2" name="">
            <a:extLst xmlns:a="http://schemas.openxmlformats.org/drawingml/2006/main">
              <a:ext uri="{FF2B5EF4-FFF2-40B4-BE49-F238E27FC236}">
                <a16:creationId xmlns:a16="http://schemas.microsoft.com/office/drawing/2014/main" id="{5F88D94B-D78C-4486-ACCF-9D5CECDB164C}"/>
              </a:ext>
            </a:extLst>
          </p:cNvPr>
          <p:cNvSpPr>
            <a:spLocks xmlns:a="http://schemas.openxmlformats.org/drawingml/2006/main" noGrp="1"/>
          </p:cNvSpPr>
          <p:nvPr/>
        </p:nvSpPr>
        <p:spPr>
          <a:xfrm xmlns:a="http://schemas.openxmlformats.org/drawingml/2006/main">
            <a:off x="685800" y="80010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654"/>
                </a:solidFill>
                <a:latin typeface="Arial"/>
                <a:ea typeface="Arial"/>
                <a:cs typeface="Arial"/>
              </a:defRPr>
            </a:pPr>
            <a:r>
              <a:rPr sz="3000" b="1">
                <a:solidFill>
                  <a:srgbClr val="0B3654"/>
                </a:solidFill>
                <a:latin typeface="Arial"/>
                <a:ea typeface="Arial"/>
                <a:cs typeface="Arial"/>
              </a:rPr>
              <a:t>The Product Logic</a:t>
            </a:r>
          </a:p>
        </p:txBody>
      </p:sp>
      <p:sp>
        <p:nvSpPr>
          <p:cNvPr id="3" name="">
            <a:extLst xmlns:a="http://schemas.openxmlformats.org/drawingml/2006/main">
              <a:ext uri="{FF2B5EF4-FFF2-40B4-BE49-F238E27FC236}">
                <a16:creationId xmlns:a16="http://schemas.microsoft.com/office/drawing/2014/main" id="{B20ECFAE-D2BA-47AB-AF65-36983FBDFA7D}"/>
              </a:ext>
            </a:extLst>
          </p:cNvPr>
          <p:cNvSpPr>
            <a:spLocks xmlns:a="http://schemas.openxmlformats.org/drawingml/2006/main" noGrp="1"/>
          </p:cNvSpPr>
          <p:nvPr/>
        </p:nvSpPr>
        <p:spPr>
          <a:xfrm xmlns:a="http://schemas.openxmlformats.org/drawingml/2006/main">
            <a:off x="685800" y="634365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MetaboCausal · AI Tinkerers Montréal · 12 Sep 2026</a:t>
            </a:r>
          </a:p>
        </p:txBody>
      </p:sp>
      <p:sp>
        <p:nvSpPr>
          <p:cNvPr id="4" name="">
            <a:extLst xmlns:a="http://schemas.openxmlformats.org/drawingml/2006/main">
              <a:ext uri="{FF2B5EF4-FFF2-40B4-BE49-F238E27FC236}">
                <a16:creationId xmlns:a16="http://schemas.microsoft.com/office/drawing/2014/main" id="{8024991F-C611-4E4B-8F40-513CEE31CA35}"/>
              </a:ext>
            </a:extLst>
          </p:cNvPr>
          <p:cNvSpPr>
            <a:spLocks xmlns:a="http://schemas.openxmlformats.org/drawingml/2006/main" noGrp="1"/>
          </p:cNvSpPr>
          <p:nvPr/>
        </p:nvSpPr>
        <p:spPr>
          <a:xfrm xmlns:a="http://schemas.openxmlformats.org/drawingml/2006/main">
            <a:off x="10953750" y="63436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5271450-6D2B-48B7-A8EC-19C94E0B2447}"/>
              </a:ext>
            </a:extLst>
          </p:cNvPr>
          <p:cNvSpPr>
            <a:spLocks xmlns:a="http://schemas.openxmlformats.org/drawingml/2006/main" noGrp="1"/>
          </p:cNvSpPr>
          <p:nvPr/>
        </p:nvSpPr>
        <p:spPr>
          <a:xfrm xmlns:a="http://schemas.openxmlformats.org/drawingml/2006/main">
            <a:off x="685800" y="1809750"/>
            <a:ext cx="2952750" cy="2400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ln>
        </p:spPr>
      </p:sp>
      <p:sp>
        <p:nvSpPr>
          <p:cNvPr id="6" name="">
            <a:extLst xmlns:a="http://schemas.openxmlformats.org/drawingml/2006/main">
              <a:ext uri="{FF2B5EF4-FFF2-40B4-BE49-F238E27FC236}">
                <a16:creationId xmlns:a16="http://schemas.microsoft.com/office/drawing/2014/main" id="{BA1BD63D-3D05-4372-88E0-9AC30A1A8D8A}"/>
              </a:ext>
            </a:extLst>
          </p:cNvPr>
          <p:cNvSpPr>
            <a:spLocks xmlns:a="http://schemas.openxmlformats.org/drawingml/2006/main" noGrp="1"/>
          </p:cNvSpPr>
          <p:nvPr/>
        </p:nvSpPr>
        <p:spPr>
          <a:xfrm xmlns:a="http://schemas.openxmlformats.org/drawingml/2006/main">
            <a:off x="914400" y="2038350"/>
            <a:ext cx="552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879"/>
          </a:bodyPr>
          <a:lstStyle xmlns:a="http://schemas.openxmlformats.org/drawingml/2006/main"/>
          <a:p xmlns:a="http://schemas.openxmlformats.org/drawingml/2006/main">
            <a:pPr>
              <a:defRPr sz="3300" b="1">
                <a:solidFill>
                  <a:srgbClr val="15803D"/>
                </a:solidFill>
                <a:latin typeface="Arial"/>
                <a:ea typeface="Arial"/>
                <a:cs typeface="Arial"/>
              </a:defRPr>
            </a:pPr>
            <a:r>
              <a:rPr sz="3300" b="1">
                <a:solidFill>
                  <a:srgbClr val="15803D"/>
                </a:solidFill>
                <a:latin typeface="Arial"/>
                <a:ea typeface="Arial"/>
                <a:cs typeface="Arial"/>
              </a:rPr>
              <a:t>A</a:t>
            </a:r>
          </a:p>
        </p:txBody>
      </p:sp>
      <p:sp>
        <p:nvSpPr>
          <p:cNvPr id="7" name="">
            <a:extLst xmlns:a="http://schemas.openxmlformats.org/drawingml/2006/main">
              <a:ext uri="{FF2B5EF4-FFF2-40B4-BE49-F238E27FC236}">
                <a16:creationId xmlns:a16="http://schemas.microsoft.com/office/drawing/2014/main" id="{D1FA12C2-98D8-4519-A15F-97153166892E}"/>
              </a:ext>
            </a:extLst>
          </p:cNvPr>
          <p:cNvSpPr>
            <a:spLocks xmlns:a="http://schemas.openxmlformats.org/drawingml/2006/main" noGrp="1"/>
          </p:cNvSpPr>
          <p:nvPr/>
        </p:nvSpPr>
        <p:spPr>
          <a:xfrm xmlns:a="http://schemas.openxmlformats.org/drawingml/2006/main">
            <a:off x="914400" y="27241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205"/>
          </a:bodyPr>
          <a:lstStyle xmlns:a="http://schemas.openxmlformats.org/drawingml/2006/main"/>
          <a:p xmlns:a="http://schemas.openxmlformats.org/drawingml/2006/main">
            <a:pPr>
              <a:defRPr sz="1950" b="1">
                <a:solidFill>
                  <a:srgbClr val="0F172A"/>
                </a:solidFill>
                <a:latin typeface="Arial"/>
                <a:ea typeface="Arial"/>
                <a:cs typeface="Arial"/>
              </a:defRPr>
            </a:pPr>
            <a:r>
              <a:rPr sz="1950" b="1">
                <a:solidFill>
                  <a:srgbClr val="0F172A"/>
                </a:solidFill>
                <a:latin typeface="Arial"/>
                <a:ea typeface="Arial"/>
                <a:cs typeface="Arial"/>
              </a:rPr>
              <a:t>Answered</a:t>
            </a:r>
          </a:p>
        </p:txBody>
      </p:sp>
      <p:sp>
        <p:nvSpPr>
          <p:cNvPr id="8" name="">
            <a:extLst xmlns:a="http://schemas.openxmlformats.org/drawingml/2006/main">
              <a:ext uri="{FF2B5EF4-FFF2-40B4-BE49-F238E27FC236}">
                <a16:creationId xmlns:a16="http://schemas.microsoft.com/office/drawing/2014/main" id="{EC56678F-54AD-413F-8723-075DA4946814}"/>
              </a:ext>
            </a:extLst>
          </p:cNvPr>
          <p:cNvSpPr>
            <a:spLocks xmlns:a="http://schemas.openxmlformats.org/drawingml/2006/main" noGrp="1"/>
          </p:cNvSpPr>
          <p:nvPr/>
        </p:nvSpPr>
        <p:spPr>
          <a:xfrm xmlns:a="http://schemas.openxmlformats.org/drawingml/2006/main">
            <a:off x="914400" y="3200400"/>
            <a:ext cx="2381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475569"/>
                </a:solidFill>
                <a:latin typeface="Arial"/>
                <a:ea typeface="Arial"/>
                <a:cs typeface="Arial"/>
              </a:defRPr>
            </a:pPr>
            <a:r>
              <a:rPr sz="1425" b="0">
                <a:solidFill>
                  <a:srgbClr val="475569"/>
                </a:solidFill>
                <a:latin typeface="Arial"/>
                <a:ea typeface="Arial"/>
                <a:cs typeface="Arial"/>
              </a:rPr>
              <a:t>Existing genetic evidence retrieved and cited.</a:t>
            </a:r>
          </a:p>
        </p:txBody>
      </p:sp>
      <p:sp>
        <p:nvSpPr>
          <p:cNvPr id="9" name="">
            <a:extLst xmlns:a="http://schemas.openxmlformats.org/drawingml/2006/main">
              <a:ext uri="{FF2B5EF4-FFF2-40B4-BE49-F238E27FC236}">
                <a16:creationId xmlns:a16="http://schemas.microsoft.com/office/drawing/2014/main" id="{CFB58766-0C29-4105-AE2C-404DC89ED779}"/>
              </a:ext>
            </a:extLst>
          </p:cNvPr>
          <p:cNvSpPr>
            <a:spLocks xmlns:a="http://schemas.openxmlformats.org/drawingml/2006/main" noGrp="1"/>
          </p:cNvSpPr>
          <p:nvPr/>
        </p:nvSpPr>
        <p:spPr>
          <a:xfrm xmlns:a="http://schemas.openxmlformats.org/drawingml/2006/main">
            <a:off x="4248150" y="1809750"/>
            <a:ext cx="2952750" cy="2400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ln>
        </p:spPr>
      </p:sp>
      <p:sp>
        <p:nvSpPr>
          <p:cNvPr id="10" name="">
            <a:extLst xmlns:a="http://schemas.openxmlformats.org/drawingml/2006/main">
              <a:ext uri="{FF2B5EF4-FFF2-40B4-BE49-F238E27FC236}">
                <a16:creationId xmlns:a16="http://schemas.microsoft.com/office/drawing/2014/main" id="{E92F0DB7-75DB-40D5-A93A-320698837720}"/>
              </a:ext>
            </a:extLst>
          </p:cNvPr>
          <p:cNvSpPr>
            <a:spLocks xmlns:a="http://schemas.openxmlformats.org/drawingml/2006/main" noGrp="1"/>
          </p:cNvSpPr>
          <p:nvPr/>
        </p:nvSpPr>
        <p:spPr>
          <a:xfrm xmlns:a="http://schemas.openxmlformats.org/drawingml/2006/main">
            <a:off x="4476750" y="2038350"/>
            <a:ext cx="552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879"/>
          </a:bodyPr>
          <a:lstStyle xmlns:a="http://schemas.openxmlformats.org/drawingml/2006/main"/>
          <a:p xmlns:a="http://schemas.openxmlformats.org/drawingml/2006/main">
            <a:pPr>
              <a:defRPr sz="3300" b="1">
                <a:solidFill>
                  <a:srgbClr val="0E7490"/>
                </a:solidFill>
                <a:latin typeface="Arial"/>
                <a:ea typeface="Arial"/>
                <a:cs typeface="Arial"/>
              </a:defRPr>
            </a:pPr>
            <a:r>
              <a:rPr sz="3300" b="1">
                <a:solidFill>
                  <a:srgbClr val="0E7490"/>
                </a:solidFill>
                <a:latin typeface="Arial"/>
                <a:ea typeface="Arial"/>
                <a:cs typeface="Arial"/>
              </a:rPr>
              <a:t>B</a:t>
            </a:r>
          </a:p>
        </p:txBody>
      </p:sp>
      <p:sp>
        <p:nvSpPr>
          <p:cNvPr id="11" name="">
            <a:extLst xmlns:a="http://schemas.openxmlformats.org/drawingml/2006/main">
              <a:ext uri="{FF2B5EF4-FFF2-40B4-BE49-F238E27FC236}">
                <a16:creationId xmlns:a16="http://schemas.microsoft.com/office/drawing/2014/main" id="{2D37ED0A-BE50-47E9-8E08-8EE3412E015E}"/>
              </a:ext>
            </a:extLst>
          </p:cNvPr>
          <p:cNvSpPr>
            <a:spLocks xmlns:a="http://schemas.openxmlformats.org/drawingml/2006/main" noGrp="1"/>
          </p:cNvSpPr>
          <p:nvPr/>
        </p:nvSpPr>
        <p:spPr>
          <a:xfrm xmlns:a="http://schemas.openxmlformats.org/drawingml/2006/main">
            <a:off x="4476750" y="27241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205"/>
          </a:bodyPr>
          <a:lstStyle xmlns:a="http://schemas.openxmlformats.org/drawingml/2006/main"/>
          <a:p xmlns:a="http://schemas.openxmlformats.org/drawingml/2006/main">
            <a:pPr>
              <a:defRPr sz="1950" b="1">
                <a:solidFill>
                  <a:srgbClr val="0F172A"/>
                </a:solidFill>
                <a:latin typeface="Arial"/>
                <a:ea typeface="Arial"/>
                <a:cs typeface="Arial"/>
              </a:defRPr>
            </a:pPr>
            <a:r>
              <a:rPr sz="1950" b="1">
                <a:solidFill>
                  <a:srgbClr val="0F172A"/>
                </a:solidFill>
                <a:latin typeface="Arial"/>
                <a:ea typeface="Arial"/>
                <a:cs typeface="Arial"/>
              </a:rPr>
              <a:t>Analysis-ready</a:t>
            </a:r>
          </a:p>
        </p:txBody>
      </p:sp>
      <p:sp>
        <p:nvSpPr>
          <p:cNvPr id="12" name="">
            <a:extLst xmlns:a="http://schemas.openxmlformats.org/drawingml/2006/main">
              <a:ext uri="{FF2B5EF4-FFF2-40B4-BE49-F238E27FC236}">
                <a16:creationId xmlns:a16="http://schemas.microsoft.com/office/drawing/2014/main" id="{E54DA617-53E5-466A-8504-F2D6B826D181}"/>
              </a:ext>
            </a:extLst>
          </p:cNvPr>
          <p:cNvSpPr>
            <a:spLocks xmlns:a="http://schemas.openxmlformats.org/drawingml/2006/main" noGrp="1"/>
          </p:cNvSpPr>
          <p:nvPr/>
        </p:nvSpPr>
        <p:spPr>
          <a:xfrm xmlns:a="http://schemas.openxmlformats.org/drawingml/2006/main">
            <a:off x="4476750" y="3200400"/>
            <a:ext cx="2381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52"/>
          </a:bodyPr>
          <a:lstStyle xmlns:a="http://schemas.openxmlformats.org/drawingml/2006/main"/>
          <a:p xmlns:a="http://schemas.openxmlformats.org/drawingml/2006/main">
            <a:pPr>
              <a:defRPr sz="1425" b="0">
                <a:solidFill>
                  <a:srgbClr val="475569"/>
                </a:solidFill>
                <a:latin typeface="Arial"/>
                <a:ea typeface="Arial"/>
                <a:cs typeface="Arial"/>
              </a:defRPr>
            </a:pPr>
            <a:r>
              <a:rPr sz="1425" b="0">
                <a:solidFill>
                  <a:srgbClr val="475569"/>
                </a:solidFill>
                <a:latin typeface="Arial"/>
                <a:ea typeface="Arial"/>
                <a:cs typeface="Arial"/>
              </a:rPr>
              <a:t>Required data appear available, but the estimate is not found yet.</a:t>
            </a:r>
          </a:p>
        </p:txBody>
      </p:sp>
      <p:sp>
        <p:nvSpPr>
          <p:cNvPr id="13" name="">
            <a:extLst xmlns:a="http://schemas.openxmlformats.org/drawingml/2006/main">
              <a:ext uri="{FF2B5EF4-FFF2-40B4-BE49-F238E27FC236}">
                <a16:creationId xmlns:a16="http://schemas.microsoft.com/office/drawing/2014/main" id="{533A9516-FA16-4B3C-93F0-7F4FEB157E95}"/>
              </a:ext>
            </a:extLst>
          </p:cNvPr>
          <p:cNvSpPr>
            <a:spLocks xmlns:a="http://schemas.openxmlformats.org/drawingml/2006/main" noGrp="1"/>
          </p:cNvSpPr>
          <p:nvPr/>
        </p:nvSpPr>
        <p:spPr>
          <a:xfrm xmlns:a="http://schemas.openxmlformats.org/drawingml/2006/main">
            <a:off x="7810500" y="1809750"/>
            <a:ext cx="2952750" cy="2400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ln>
        </p:spPr>
      </p:sp>
      <p:sp>
        <p:nvSpPr>
          <p:cNvPr id="14" name="">
            <a:extLst xmlns:a="http://schemas.openxmlformats.org/drawingml/2006/main">
              <a:ext uri="{FF2B5EF4-FFF2-40B4-BE49-F238E27FC236}">
                <a16:creationId xmlns:a16="http://schemas.microsoft.com/office/drawing/2014/main" id="{8BD29E2A-9B45-43D3-B96D-E1BDF97E5304}"/>
              </a:ext>
            </a:extLst>
          </p:cNvPr>
          <p:cNvSpPr>
            <a:spLocks xmlns:a="http://schemas.openxmlformats.org/drawingml/2006/main" noGrp="1"/>
          </p:cNvSpPr>
          <p:nvPr/>
        </p:nvSpPr>
        <p:spPr>
          <a:xfrm xmlns:a="http://schemas.openxmlformats.org/drawingml/2006/main">
            <a:off x="8039100" y="2038350"/>
            <a:ext cx="552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879"/>
          </a:bodyPr>
          <a:lstStyle xmlns:a="http://schemas.openxmlformats.org/drawingml/2006/main"/>
          <a:p xmlns:a="http://schemas.openxmlformats.org/drawingml/2006/main">
            <a:pPr>
              <a:defRPr sz="3300" b="1">
                <a:solidFill>
                  <a:srgbClr val="B45309"/>
                </a:solidFill>
                <a:latin typeface="Arial"/>
                <a:ea typeface="Arial"/>
                <a:cs typeface="Arial"/>
              </a:defRPr>
            </a:pPr>
            <a:r>
              <a:rPr sz="3300" b="1">
                <a:solidFill>
                  <a:srgbClr val="B45309"/>
                </a:solidFill>
                <a:latin typeface="Arial"/>
                <a:ea typeface="Arial"/>
                <a:cs typeface="Arial"/>
              </a:rPr>
              <a:t>C</a:t>
            </a:r>
          </a:p>
        </p:txBody>
      </p:sp>
      <p:sp>
        <p:nvSpPr>
          <p:cNvPr id="15" name="">
            <a:extLst xmlns:a="http://schemas.openxmlformats.org/drawingml/2006/main">
              <a:ext uri="{FF2B5EF4-FFF2-40B4-BE49-F238E27FC236}">
                <a16:creationId xmlns:a16="http://schemas.microsoft.com/office/drawing/2014/main" id="{30B3016F-EF20-48AD-A6CB-9C4F2BE8FADF}"/>
              </a:ext>
            </a:extLst>
          </p:cNvPr>
          <p:cNvSpPr>
            <a:spLocks xmlns:a="http://schemas.openxmlformats.org/drawingml/2006/main" noGrp="1"/>
          </p:cNvSpPr>
          <p:nvPr/>
        </p:nvSpPr>
        <p:spPr>
          <a:xfrm xmlns:a="http://schemas.openxmlformats.org/drawingml/2006/main">
            <a:off x="8039100" y="27241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205"/>
          </a:bodyPr>
          <a:lstStyle xmlns:a="http://schemas.openxmlformats.org/drawingml/2006/main"/>
          <a:p xmlns:a="http://schemas.openxmlformats.org/drawingml/2006/main">
            <a:pPr>
              <a:defRPr sz="1950" b="1">
                <a:solidFill>
                  <a:srgbClr val="0F172A"/>
                </a:solidFill>
                <a:latin typeface="Arial"/>
                <a:ea typeface="Arial"/>
                <a:cs typeface="Arial"/>
              </a:defRPr>
            </a:pPr>
            <a:r>
              <a:rPr sz="1950" b="1">
                <a:solidFill>
                  <a:srgbClr val="0F172A"/>
                </a:solidFill>
                <a:latin typeface="Arial"/>
                <a:ea typeface="Arial"/>
                <a:cs typeface="Arial"/>
              </a:rPr>
              <a:t>Evidence gap</a:t>
            </a:r>
          </a:p>
        </p:txBody>
      </p:sp>
      <p:sp>
        <p:nvSpPr>
          <p:cNvPr id="16" name="">
            <a:extLst xmlns:a="http://schemas.openxmlformats.org/drawingml/2006/main">
              <a:ext uri="{FF2B5EF4-FFF2-40B4-BE49-F238E27FC236}">
                <a16:creationId xmlns:a16="http://schemas.microsoft.com/office/drawing/2014/main" id="{B9BDFECC-D11F-4516-A827-59A3BBD124FE}"/>
              </a:ext>
            </a:extLst>
          </p:cNvPr>
          <p:cNvSpPr>
            <a:spLocks xmlns:a="http://schemas.openxmlformats.org/drawingml/2006/main" noGrp="1"/>
          </p:cNvSpPr>
          <p:nvPr/>
        </p:nvSpPr>
        <p:spPr>
          <a:xfrm xmlns:a="http://schemas.openxmlformats.org/drawingml/2006/main">
            <a:off x="8039100" y="3200400"/>
            <a:ext cx="2381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52"/>
          </a:bodyPr>
          <a:lstStyle xmlns:a="http://schemas.openxmlformats.org/drawingml/2006/main"/>
          <a:p xmlns:a="http://schemas.openxmlformats.org/drawingml/2006/main">
            <a:pPr>
              <a:defRPr sz="1425" b="0">
                <a:solidFill>
                  <a:srgbClr val="475569"/>
                </a:solidFill>
                <a:latin typeface="Arial"/>
                <a:ea typeface="Arial"/>
                <a:cs typeface="Arial"/>
              </a:defRPr>
            </a:pPr>
            <a:r>
              <a:rPr sz="1425" b="0">
                <a:solidFill>
                  <a:srgbClr val="475569"/>
                </a:solidFill>
                <a:latin typeface="Arial"/>
                <a:ea typeface="Arial"/>
                <a:cs typeface="Arial"/>
              </a:rPr>
              <a:t>The current sources do not support a result. The gap stays visible.</a:t>
            </a:r>
          </a:p>
        </p:txBody>
      </p:sp>
      <p:sp>
        <p:nvSpPr>
          <p:cNvPr id="17" name="">
            <a:extLst xmlns:a="http://schemas.openxmlformats.org/drawingml/2006/main">
              <a:ext uri="{FF2B5EF4-FFF2-40B4-BE49-F238E27FC236}">
                <a16:creationId xmlns:a16="http://schemas.microsoft.com/office/drawing/2014/main" id="{42BDFBDA-4DCB-4EA7-9FFD-CDBE64A0B03E}"/>
              </a:ext>
            </a:extLst>
          </p:cNvPr>
          <p:cNvSpPr>
            <a:spLocks xmlns:a="http://schemas.openxmlformats.org/drawingml/2006/main" noGrp="1"/>
          </p:cNvSpPr>
          <p:nvPr/>
        </p:nvSpPr>
        <p:spPr>
          <a:xfrm xmlns:a="http://schemas.openxmlformats.org/drawingml/2006/main">
            <a:off x="685800" y="45339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000"/>
          </a:bodyPr>
          <a:lstStyle xmlns:a="http://schemas.openxmlformats.org/drawingml/2006/main"/>
          <a:p xmlns:a="http://schemas.openxmlformats.org/drawingml/2006/main">
            <a:pPr>
              <a:defRPr sz="2250" b="1">
                <a:solidFill>
                  <a:srgbClr val="0B3654"/>
                </a:solidFill>
                <a:latin typeface="Arial"/>
                <a:ea typeface="Arial"/>
                <a:cs typeface="Arial"/>
              </a:defRPr>
            </a:pPr>
            <a:r>
              <a:rPr sz="2250" b="1">
                <a:solidFill>
                  <a:srgbClr val="0B3654"/>
                </a:solidFill>
                <a:latin typeface="Arial"/>
                <a:ea typeface="Arial"/>
                <a:cs typeface="Arial"/>
              </a:rPr>
              <a:t>"Not found" never becomes "no effect."</a:t>
            </a:r>
          </a:p>
        </p:txBody>
      </p:sp>
      <p:sp>
        <p:nvSpPr>
          <p:cNvPr id="18" name="">
            <a:extLst xmlns:a="http://schemas.openxmlformats.org/drawingml/2006/main">
              <a:ext uri="{FF2B5EF4-FFF2-40B4-BE49-F238E27FC236}">
                <a16:creationId xmlns:a16="http://schemas.microsoft.com/office/drawing/2014/main" id="{B681188B-A702-4D89-8FFD-8AC6547A9CCA}"/>
              </a:ext>
            </a:extLst>
          </p:cNvPr>
          <p:cNvSpPr>
            <a:spLocks xmlns:a="http://schemas.openxmlformats.org/drawingml/2006/main" noGrp="1"/>
          </p:cNvSpPr>
          <p:nvPr/>
        </p:nvSpPr>
        <p:spPr>
          <a:xfrm xmlns:a="http://schemas.openxmlformats.org/drawingml/2006/main">
            <a:off x="685800" y="5467350"/>
            <a:ext cx="10172700" cy="552450"/>
          </a:xfrm>
          <a:prstGeom xmlns:a="http://schemas.openxmlformats.org/drawingml/2006/main" prst="rect">
            <a:avLst/>
          </a:prstGeom>
          <a:solidFill xmlns:a="http://schemas.openxmlformats.org/drawingml/2006/main">
            <a:srgbClr val="E0F2FE"/>
          </a:solidFill>
          <a:ln xmlns:a="http://schemas.openxmlformats.org/drawingml/2006/main" w="9525">
            <a:solidFill>
              <a:srgbClr val="BAE6FD"/>
            </a:solidFill>
          </a:ln>
        </p:spPr>
      </p:sp>
      <p:sp>
        <p:nvSpPr>
          <p:cNvPr id="19" name="">
            <a:extLst xmlns:a="http://schemas.openxmlformats.org/drawingml/2006/main">
              <a:ext uri="{FF2B5EF4-FFF2-40B4-BE49-F238E27FC236}">
                <a16:creationId xmlns:a16="http://schemas.microsoft.com/office/drawing/2014/main" id="{CA6A1AAF-7E48-4296-AB39-7BB044AE3AD0}"/>
              </a:ext>
            </a:extLst>
          </p:cNvPr>
          <p:cNvSpPr>
            <a:spLocks xmlns:a="http://schemas.openxmlformats.org/drawingml/2006/main" noGrp="1"/>
          </p:cNvSpPr>
          <p:nvPr/>
        </p:nvSpPr>
        <p:spPr>
          <a:xfrm xmlns:a="http://schemas.openxmlformats.org/drawingml/2006/main">
            <a:off x="914400" y="56007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0C4A6E"/>
                </a:solidFill>
                <a:latin typeface="Arial"/>
                <a:ea typeface="Arial"/>
                <a:cs typeface="Arial"/>
              </a:defRPr>
            </a:pPr>
            <a:r>
              <a:rPr sz="1500" b="1">
                <a:solidFill>
                  <a:srgbClr val="0C4A6E"/>
                </a:solidFill>
                <a:latin typeface="Arial"/>
                <a:ea typeface="Arial"/>
                <a:cs typeface="Arial"/>
              </a:rPr>
              <a:t>Say: A gap should stay a gap. It should not be turned into a fake answer.</a:t>
            </a:r>
          </a:p>
        </p:txBody>
      </p:sp>
    </p:spTree>
    <p:extLst>
      <p:ext uri="{BB962C8B-B14F-4D97-AF65-F5344CB8AC3E}">
        <p14:creationId xmlns:p14="http://schemas.microsoft.com/office/powerpoint/2010/main" val="95176135"/>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A658783-E392-4691-BB47-4A9DAE19F836}"/>
              </a:ext>
            </a:extLst>
          </p:cNvPr>
          <p:cNvSpPr>
            <a:spLocks xmlns:a="http://schemas.openxmlformats.org/drawingml/2006/main" noGrp="1"/>
          </p:cNvSpPr>
          <p:nvPr/>
        </p:nvSpPr>
        <p:spPr>
          <a:xfrm xmlns:a="http://schemas.openxmlformats.org/drawingml/2006/main">
            <a:off x="685800" y="514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0E7490"/>
                </a:solidFill>
                <a:latin typeface="Arial"/>
                <a:ea typeface="Arial"/>
                <a:cs typeface="Arial"/>
              </a:defRPr>
            </a:pPr>
            <a:r>
              <a:rPr sz="1050" b="1">
                <a:solidFill>
                  <a:srgbClr val="0E7490"/>
                </a:solidFill>
                <a:latin typeface="Arial"/>
                <a:ea typeface="Arial"/>
                <a:cs typeface="Arial"/>
              </a:rPr>
              <a:t>EVIDENCE FIRST, MODEL SECOND</a:t>
            </a:r>
          </a:p>
        </p:txBody>
      </p:sp>
      <p:sp>
        <p:nvSpPr>
          <p:cNvPr id="2" name="">
            <a:extLst xmlns:a="http://schemas.openxmlformats.org/drawingml/2006/main">
              <a:ext uri="{FF2B5EF4-FFF2-40B4-BE49-F238E27FC236}">
                <a16:creationId xmlns:a16="http://schemas.microsoft.com/office/drawing/2014/main" id="{DC69DE0D-64A2-47F8-8D38-51143B3076E8}"/>
              </a:ext>
            </a:extLst>
          </p:cNvPr>
          <p:cNvSpPr>
            <a:spLocks xmlns:a="http://schemas.openxmlformats.org/drawingml/2006/main" noGrp="1"/>
          </p:cNvSpPr>
          <p:nvPr/>
        </p:nvSpPr>
        <p:spPr>
          <a:xfrm xmlns:a="http://schemas.openxmlformats.org/drawingml/2006/main">
            <a:off x="685800" y="80010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654"/>
                </a:solidFill>
                <a:latin typeface="Arial"/>
                <a:ea typeface="Arial"/>
                <a:cs typeface="Arial"/>
              </a:defRPr>
            </a:pPr>
            <a:r>
              <a:rPr sz="3000" b="1">
                <a:solidFill>
                  <a:srgbClr val="0B3654"/>
                </a:solidFill>
                <a:latin typeface="Arial"/>
                <a:ea typeface="Arial"/>
                <a:cs typeface="Arial"/>
              </a:rPr>
              <a:t>How It Works</a:t>
            </a:r>
          </a:p>
        </p:txBody>
      </p:sp>
      <p:sp>
        <p:nvSpPr>
          <p:cNvPr id="3" name="">
            <a:extLst xmlns:a="http://schemas.openxmlformats.org/drawingml/2006/main">
              <a:ext uri="{FF2B5EF4-FFF2-40B4-BE49-F238E27FC236}">
                <a16:creationId xmlns:a16="http://schemas.microsoft.com/office/drawing/2014/main" id="{16BAE348-AF54-45BD-B4AF-28B6B1C29B13}"/>
              </a:ext>
            </a:extLst>
          </p:cNvPr>
          <p:cNvSpPr>
            <a:spLocks xmlns:a="http://schemas.openxmlformats.org/drawingml/2006/main" noGrp="1"/>
          </p:cNvSpPr>
          <p:nvPr/>
        </p:nvSpPr>
        <p:spPr>
          <a:xfrm xmlns:a="http://schemas.openxmlformats.org/drawingml/2006/main">
            <a:off x="685800" y="634365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MetaboCausal · AI Tinkerers Montréal · 12 Sep 2026</a:t>
            </a:r>
          </a:p>
        </p:txBody>
      </p:sp>
      <p:sp>
        <p:nvSpPr>
          <p:cNvPr id="4" name="">
            <a:extLst xmlns:a="http://schemas.openxmlformats.org/drawingml/2006/main">
              <a:ext uri="{FF2B5EF4-FFF2-40B4-BE49-F238E27FC236}">
                <a16:creationId xmlns:a16="http://schemas.microsoft.com/office/drawing/2014/main" id="{293944EA-669D-44B6-88A9-5D5994454714}"/>
              </a:ext>
            </a:extLst>
          </p:cNvPr>
          <p:cNvSpPr>
            <a:spLocks xmlns:a="http://schemas.openxmlformats.org/drawingml/2006/main" noGrp="1"/>
          </p:cNvSpPr>
          <p:nvPr/>
        </p:nvSpPr>
        <p:spPr>
          <a:xfrm xmlns:a="http://schemas.openxmlformats.org/drawingml/2006/main">
            <a:off x="10953750" y="63436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61DB070-A798-4F8C-96B7-4CA0526160BA}"/>
              </a:ext>
            </a:extLst>
          </p:cNvPr>
          <p:cNvSpPr>
            <a:spLocks xmlns:a="http://schemas.openxmlformats.org/drawingml/2006/main" noGrp="1"/>
          </p:cNvSpPr>
          <p:nvPr/>
        </p:nvSpPr>
        <p:spPr>
          <a:xfrm xmlns:a="http://schemas.openxmlformats.org/drawingml/2006/main">
            <a:off x="685800" y="2000250"/>
            <a:ext cx="16383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ln>
        </p:spPr>
      </p:sp>
      <p:sp>
        <p:nvSpPr>
          <p:cNvPr id="6" name="">
            <a:extLst xmlns:a="http://schemas.openxmlformats.org/drawingml/2006/main">
              <a:ext uri="{FF2B5EF4-FFF2-40B4-BE49-F238E27FC236}">
                <a16:creationId xmlns:a16="http://schemas.microsoft.com/office/drawing/2014/main" id="{4FDBE4AF-8364-40C6-8499-F27858DFE65F}"/>
              </a:ext>
            </a:extLst>
          </p:cNvPr>
          <p:cNvSpPr>
            <a:spLocks xmlns:a="http://schemas.openxmlformats.org/drawingml/2006/main" noGrp="1"/>
          </p:cNvSpPr>
          <p:nvPr/>
        </p:nvSpPr>
        <p:spPr>
          <a:xfrm xmlns:a="http://schemas.openxmlformats.org/drawingml/2006/main">
            <a:off x="838200" y="222885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077"/>
          </a:bodyPr>
          <a:lstStyle xmlns:a="http://schemas.openxmlformats.org/drawingml/2006/main"/>
          <a:p xmlns:a="http://schemas.openxmlformats.org/drawingml/2006/main">
            <a:pPr>
              <a:defRPr sz="1500" b="1">
                <a:solidFill>
                  <a:srgbClr val="0F172A"/>
                </a:solidFill>
                <a:latin typeface="Arial"/>
                <a:ea typeface="Arial"/>
                <a:cs typeface="Arial"/>
              </a:defRPr>
            </a:pPr>
            <a:r>
              <a:rPr sz="1500" b="1">
                <a:solidFill>
                  <a:srgbClr val="0F172A"/>
                </a:solidFill>
                <a:latin typeface="Arial"/>
                <a:ea typeface="Arial"/>
                <a:cs typeface="Arial"/>
              </a:rPr>
              <a:t>Resolve names</a:t>
            </a:r>
          </a:p>
        </p:txBody>
      </p:sp>
      <p:sp>
        <p:nvSpPr>
          <p:cNvPr id="7" name="">
            <a:extLst xmlns:a="http://schemas.openxmlformats.org/drawingml/2006/main">
              <a:ext uri="{FF2B5EF4-FFF2-40B4-BE49-F238E27FC236}">
                <a16:creationId xmlns:a16="http://schemas.microsoft.com/office/drawing/2014/main" id="{2EAB5955-EC5D-4384-9668-678F301BF57C}"/>
              </a:ext>
            </a:extLst>
          </p:cNvPr>
          <p:cNvSpPr>
            <a:spLocks xmlns:a="http://schemas.openxmlformats.org/drawingml/2006/main" noGrp="1"/>
          </p:cNvSpPr>
          <p:nvPr/>
        </p:nvSpPr>
        <p:spPr>
          <a:xfrm xmlns:a="http://schemas.openxmlformats.org/drawingml/2006/main">
            <a:off x="2762250" y="2000250"/>
            <a:ext cx="16383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ln>
        </p:spPr>
      </p:sp>
      <p:sp>
        <p:nvSpPr>
          <p:cNvPr id="8" name="">
            <a:extLst xmlns:a="http://schemas.openxmlformats.org/drawingml/2006/main">
              <a:ext uri="{FF2B5EF4-FFF2-40B4-BE49-F238E27FC236}">
                <a16:creationId xmlns:a16="http://schemas.microsoft.com/office/drawing/2014/main" id="{3B82953E-4051-466D-8277-23A61AEF276B}"/>
              </a:ext>
            </a:extLst>
          </p:cNvPr>
          <p:cNvSpPr>
            <a:spLocks xmlns:a="http://schemas.openxmlformats.org/drawingml/2006/main" noGrp="1"/>
          </p:cNvSpPr>
          <p:nvPr/>
        </p:nvSpPr>
        <p:spPr>
          <a:xfrm xmlns:a="http://schemas.openxmlformats.org/drawingml/2006/main">
            <a:off x="2914650" y="222885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137"/>
          </a:bodyPr>
          <a:lstStyle xmlns:a="http://schemas.openxmlformats.org/drawingml/2006/main"/>
          <a:p xmlns:a="http://schemas.openxmlformats.org/drawingml/2006/main">
            <a:pPr>
              <a:defRPr sz="1500" b="1">
                <a:solidFill>
                  <a:srgbClr val="0F172A"/>
                </a:solidFill>
                <a:latin typeface="Arial"/>
                <a:ea typeface="Arial"/>
                <a:cs typeface="Arial"/>
              </a:defRPr>
            </a:pPr>
            <a:r>
              <a:rPr sz="1500" b="1">
                <a:solidFill>
                  <a:srgbClr val="0F172A"/>
                </a:solidFill>
                <a:latin typeface="Arial"/>
                <a:ea typeface="Arial"/>
                <a:cs typeface="Arial"/>
              </a:rPr>
              <a:t>Retrieve evidence</a:t>
            </a:r>
          </a:p>
        </p:txBody>
      </p:sp>
      <p:sp>
        <p:nvSpPr>
          <p:cNvPr id="9" name="">
            <a:extLst xmlns:a="http://schemas.openxmlformats.org/drawingml/2006/main">
              <a:ext uri="{FF2B5EF4-FFF2-40B4-BE49-F238E27FC236}">
                <a16:creationId xmlns:a16="http://schemas.microsoft.com/office/drawing/2014/main" id="{9F4F7CC8-4AC6-4273-98E2-E846CFC50D40}"/>
              </a:ext>
            </a:extLst>
          </p:cNvPr>
          <p:cNvSpPr>
            <a:spLocks xmlns:a="http://schemas.openxmlformats.org/drawingml/2006/main" noGrp="1"/>
          </p:cNvSpPr>
          <p:nvPr/>
        </p:nvSpPr>
        <p:spPr>
          <a:xfrm xmlns:a="http://schemas.openxmlformats.org/drawingml/2006/main">
            <a:off x="4838700" y="2000250"/>
            <a:ext cx="16383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ln>
        </p:spPr>
      </p:sp>
      <p:sp>
        <p:nvSpPr>
          <p:cNvPr id="10" name="">
            <a:extLst xmlns:a="http://schemas.openxmlformats.org/drawingml/2006/main">
              <a:ext uri="{FF2B5EF4-FFF2-40B4-BE49-F238E27FC236}">
                <a16:creationId xmlns:a16="http://schemas.microsoft.com/office/drawing/2014/main" id="{49405464-2FB3-49DC-9DD1-23B4EE340B4A}"/>
              </a:ext>
            </a:extLst>
          </p:cNvPr>
          <p:cNvSpPr>
            <a:spLocks xmlns:a="http://schemas.openxmlformats.org/drawingml/2006/main" noGrp="1"/>
          </p:cNvSpPr>
          <p:nvPr/>
        </p:nvSpPr>
        <p:spPr>
          <a:xfrm xmlns:a="http://schemas.openxmlformats.org/drawingml/2006/main">
            <a:off x="4991100" y="222885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22"/>
          </a:bodyPr>
          <a:lstStyle xmlns:a="http://schemas.openxmlformats.org/drawingml/2006/main"/>
          <a:p xmlns:a="http://schemas.openxmlformats.org/drawingml/2006/main">
            <a:pPr>
              <a:defRPr sz="1500" b="1">
                <a:solidFill>
                  <a:srgbClr val="0F172A"/>
                </a:solidFill>
                <a:latin typeface="Arial"/>
                <a:ea typeface="Arial"/>
                <a:cs typeface="Arial"/>
              </a:defRPr>
            </a:pPr>
            <a:r>
              <a:rPr sz="1500" b="1">
                <a:solidFill>
                  <a:srgbClr val="0F172A"/>
                </a:solidFill>
                <a:latin typeface="Arial"/>
                <a:ea typeface="Arial"/>
                <a:cs typeface="Arial"/>
              </a:rPr>
              <a:t>Classify A/B/C</a:t>
            </a:r>
          </a:p>
        </p:txBody>
      </p:sp>
      <p:sp>
        <p:nvSpPr>
          <p:cNvPr id="11" name="">
            <a:extLst xmlns:a="http://schemas.openxmlformats.org/drawingml/2006/main">
              <a:ext uri="{FF2B5EF4-FFF2-40B4-BE49-F238E27FC236}">
                <a16:creationId xmlns:a16="http://schemas.microsoft.com/office/drawing/2014/main" id="{4A19BE69-7503-4F55-86A9-8FB248AC94D7}"/>
              </a:ext>
            </a:extLst>
          </p:cNvPr>
          <p:cNvSpPr>
            <a:spLocks xmlns:a="http://schemas.openxmlformats.org/drawingml/2006/main" noGrp="1"/>
          </p:cNvSpPr>
          <p:nvPr/>
        </p:nvSpPr>
        <p:spPr>
          <a:xfrm xmlns:a="http://schemas.openxmlformats.org/drawingml/2006/main">
            <a:off x="6915150" y="2000250"/>
            <a:ext cx="16383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ln>
        </p:spPr>
      </p:sp>
      <p:sp>
        <p:nvSpPr>
          <p:cNvPr id="12" name="">
            <a:extLst xmlns:a="http://schemas.openxmlformats.org/drawingml/2006/main">
              <a:ext uri="{FF2B5EF4-FFF2-40B4-BE49-F238E27FC236}">
                <a16:creationId xmlns:a16="http://schemas.microsoft.com/office/drawing/2014/main" id="{14613139-55F5-47BC-AC26-A75D73F43551}"/>
              </a:ext>
            </a:extLst>
          </p:cNvPr>
          <p:cNvSpPr>
            <a:spLocks xmlns:a="http://schemas.openxmlformats.org/drawingml/2006/main" noGrp="1"/>
          </p:cNvSpPr>
          <p:nvPr/>
        </p:nvSpPr>
        <p:spPr>
          <a:xfrm xmlns:a="http://schemas.openxmlformats.org/drawingml/2006/main">
            <a:off x="7067550" y="222885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0F172A"/>
                </a:solidFill>
                <a:latin typeface="Arial"/>
                <a:ea typeface="Arial"/>
                <a:cs typeface="Arial"/>
              </a:defRPr>
            </a:pPr>
            <a:r>
              <a:rPr sz="1500" b="1">
                <a:solidFill>
                  <a:srgbClr val="0F172A"/>
                </a:solidFill>
                <a:latin typeface="Arial"/>
                <a:ea typeface="Arial"/>
                <a:cs typeface="Arial"/>
              </a:rPr>
              <a:t>Add context</a:t>
            </a:r>
          </a:p>
        </p:txBody>
      </p:sp>
      <p:sp>
        <p:nvSpPr>
          <p:cNvPr id="13" name="">
            <a:extLst xmlns:a="http://schemas.openxmlformats.org/drawingml/2006/main">
              <a:ext uri="{FF2B5EF4-FFF2-40B4-BE49-F238E27FC236}">
                <a16:creationId xmlns:a16="http://schemas.microsoft.com/office/drawing/2014/main" id="{088BD33F-4C7C-496C-8AD4-EECFC67F5C1F}"/>
              </a:ext>
            </a:extLst>
          </p:cNvPr>
          <p:cNvSpPr>
            <a:spLocks xmlns:a="http://schemas.openxmlformats.org/drawingml/2006/main" noGrp="1"/>
          </p:cNvSpPr>
          <p:nvPr/>
        </p:nvSpPr>
        <p:spPr>
          <a:xfrm xmlns:a="http://schemas.openxmlformats.org/drawingml/2006/main">
            <a:off x="8991600" y="2000250"/>
            <a:ext cx="163830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ln>
        </p:spPr>
      </p:sp>
      <p:sp>
        <p:nvSpPr>
          <p:cNvPr id="14" name="">
            <a:extLst xmlns:a="http://schemas.openxmlformats.org/drawingml/2006/main">
              <a:ext uri="{FF2B5EF4-FFF2-40B4-BE49-F238E27FC236}">
                <a16:creationId xmlns:a16="http://schemas.microsoft.com/office/drawing/2014/main" id="{B21D5FC0-119E-4175-8336-980A16073536}"/>
              </a:ext>
            </a:extLst>
          </p:cNvPr>
          <p:cNvSpPr>
            <a:spLocks xmlns:a="http://schemas.openxmlformats.org/drawingml/2006/main" noGrp="1"/>
          </p:cNvSpPr>
          <p:nvPr/>
        </p:nvSpPr>
        <p:spPr>
          <a:xfrm xmlns:a="http://schemas.openxmlformats.org/drawingml/2006/main">
            <a:off x="9144000" y="222885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0F172A"/>
                </a:solidFill>
                <a:latin typeface="Arial"/>
                <a:ea typeface="Arial"/>
                <a:cs typeface="Arial"/>
              </a:defRPr>
            </a:pPr>
            <a:r>
              <a:rPr sz="1500" b="1">
                <a:solidFill>
                  <a:srgbClr val="0F172A"/>
                </a:solidFill>
                <a:latin typeface="Arial"/>
                <a:ea typeface="Arial"/>
                <a:cs typeface="Arial"/>
              </a:rPr>
              <a:t>Render card</a:t>
            </a:r>
          </a:p>
        </p:txBody>
      </p:sp>
      <p:sp>
        <p:nvSpPr>
          <p:cNvPr id="15" name="">
            <a:extLst xmlns:a="http://schemas.openxmlformats.org/drawingml/2006/main">
              <a:ext uri="{FF2B5EF4-FFF2-40B4-BE49-F238E27FC236}">
                <a16:creationId xmlns:a16="http://schemas.microsoft.com/office/drawing/2014/main" id="{7113F1FB-5348-4793-9BB4-43EBD104AEF2}"/>
              </a:ext>
            </a:extLst>
          </p:cNvPr>
          <p:cNvSpPr>
            <a:spLocks xmlns:a="http://schemas.openxmlformats.org/drawingml/2006/main" noGrp="1"/>
          </p:cNvSpPr>
          <p:nvPr/>
        </p:nvSpPr>
        <p:spPr>
          <a:xfrm xmlns:a="http://schemas.openxmlformats.org/drawingml/2006/main">
            <a:off x="685800" y="3505200"/>
            <a:ext cx="9620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1">
                <a:solidFill>
                  <a:srgbClr val="0E7490"/>
                </a:solidFill>
                <a:latin typeface="Arial"/>
                <a:ea typeface="Arial"/>
                <a:cs typeface="Arial"/>
              </a:defRPr>
            </a:pPr>
            <a:r>
              <a:rPr sz="2250" b="1">
                <a:solidFill>
                  <a:srgbClr val="0E7490"/>
                </a:solidFill>
                <a:latin typeface="Arial"/>
                <a:ea typeface="Arial"/>
                <a:cs typeface="Arial"/>
              </a:rPr>
              <a:t>The model can explain a run. It cannot rewrite the retrieved evidence.</a:t>
            </a:r>
          </a:p>
        </p:txBody>
      </p:sp>
      <p:sp>
        <p:nvSpPr>
          <p:cNvPr id="16" name="">
            <a:extLst xmlns:a="http://schemas.openxmlformats.org/drawingml/2006/main">
              <a:ext uri="{FF2B5EF4-FFF2-40B4-BE49-F238E27FC236}">
                <a16:creationId xmlns:a16="http://schemas.microsoft.com/office/drawing/2014/main" id="{00ABE856-DC7C-4B37-87A2-370C558DFB26}"/>
              </a:ext>
            </a:extLst>
          </p:cNvPr>
          <p:cNvSpPr>
            <a:spLocks xmlns:a="http://schemas.openxmlformats.org/drawingml/2006/main" noGrp="1"/>
          </p:cNvSpPr>
          <p:nvPr/>
        </p:nvSpPr>
        <p:spPr>
          <a:xfrm xmlns:a="http://schemas.openxmlformats.org/drawingml/2006/main">
            <a:off x="685800" y="409575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248"/>
          </a:bodyPr>
          <a:lstStyle xmlns:a="http://schemas.openxmlformats.org/drawingml/2006/main"/>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This is how we reduce unsupported answers while still using LLMs for readable interpretation.</a:t>
            </a:r>
          </a:p>
        </p:txBody>
      </p:sp>
      <p:sp>
        <p:nvSpPr>
          <p:cNvPr id="17" name="">
            <a:extLst xmlns:a="http://schemas.openxmlformats.org/drawingml/2006/main">
              <a:ext uri="{FF2B5EF4-FFF2-40B4-BE49-F238E27FC236}">
                <a16:creationId xmlns:a16="http://schemas.microsoft.com/office/drawing/2014/main" id="{041B9F20-6392-4DE0-BE46-D113C6022A91}"/>
              </a:ext>
            </a:extLst>
          </p:cNvPr>
          <p:cNvSpPr>
            <a:spLocks xmlns:a="http://schemas.openxmlformats.org/drawingml/2006/main" noGrp="1"/>
          </p:cNvSpPr>
          <p:nvPr/>
        </p:nvSpPr>
        <p:spPr>
          <a:xfrm xmlns:a="http://schemas.openxmlformats.org/drawingml/2006/main">
            <a:off x="685800" y="5467350"/>
            <a:ext cx="10172700" cy="552450"/>
          </a:xfrm>
          <a:prstGeom xmlns:a="http://schemas.openxmlformats.org/drawingml/2006/main" prst="rect">
            <a:avLst/>
          </a:prstGeom>
          <a:solidFill xmlns:a="http://schemas.openxmlformats.org/drawingml/2006/main">
            <a:srgbClr val="E0F2FE"/>
          </a:solidFill>
          <a:ln xmlns:a="http://schemas.openxmlformats.org/drawingml/2006/main" w="9525">
            <a:solidFill>
              <a:srgbClr val="BAE6FD"/>
            </a:solidFill>
          </a:ln>
        </p:spPr>
      </p:sp>
      <p:sp>
        <p:nvSpPr>
          <p:cNvPr id="18" name="">
            <a:extLst xmlns:a="http://schemas.openxmlformats.org/drawingml/2006/main">
              <a:ext uri="{FF2B5EF4-FFF2-40B4-BE49-F238E27FC236}">
                <a16:creationId xmlns:a16="http://schemas.microsoft.com/office/drawing/2014/main" id="{C3E17203-B001-4AF0-B7C6-9C396AB70850}"/>
              </a:ext>
            </a:extLst>
          </p:cNvPr>
          <p:cNvSpPr>
            <a:spLocks xmlns:a="http://schemas.openxmlformats.org/drawingml/2006/main" noGrp="1"/>
          </p:cNvSpPr>
          <p:nvPr/>
        </p:nvSpPr>
        <p:spPr>
          <a:xfrm xmlns:a="http://schemas.openxmlformats.org/drawingml/2006/main">
            <a:off x="914400" y="56007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0C4A6E"/>
                </a:solidFill>
                <a:latin typeface="Arial"/>
                <a:ea typeface="Arial"/>
                <a:cs typeface="Arial"/>
              </a:defRPr>
            </a:pPr>
            <a:r>
              <a:rPr sz="1500" b="1">
                <a:solidFill>
                  <a:srgbClr val="0C4A6E"/>
                </a:solidFill>
                <a:latin typeface="Arial"/>
                <a:ea typeface="Arial"/>
                <a:cs typeface="Arial"/>
              </a:rPr>
              <a:t>Say: The model explains the run. The retrieved evidence controls the answer.</a:t>
            </a:r>
          </a:p>
        </p:txBody>
      </p:sp>
    </p:spTree>
    <p:extLst>
      <p:ext uri="{BB962C8B-B14F-4D97-AF65-F5344CB8AC3E}">
        <p14:creationId xmlns:p14="http://schemas.microsoft.com/office/powerpoint/2010/main" val="1541747616"/>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0221F7C-11DE-45DE-8EF6-F587245C3BA7}"/>
              </a:ext>
            </a:extLst>
          </p:cNvPr>
          <p:cNvSpPr>
            <a:spLocks xmlns:a="http://schemas.openxmlformats.org/drawingml/2006/main" noGrp="1"/>
          </p:cNvSpPr>
          <p:nvPr/>
        </p:nvSpPr>
        <p:spPr>
          <a:xfrm xmlns:a="http://schemas.openxmlformats.org/drawingml/2006/main">
            <a:off x="685800" y="514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0E7490"/>
                </a:solidFill>
                <a:latin typeface="Arial"/>
                <a:ea typeface="Arial"/>
                <a:cs typeface="Arial"/>
              </a:defRPr>
            </a:pPr>
            <a:r>
              <a:rPr sz="1050" b="1">
                <a:solidFill>
                  <a:srgbClr val="0E7490"/>
                </a:solidFill>
                <a:latin typeface="Arial"/>
                <a:ea typeface="Arial"/>
                <a:cs typeface="Arial"/>
              </a:rPr>
              <a:t>SHOW THE LIVE WORKFLOW</a:t>
            </a:r>
          </a:p>
        </p:txBody>
      </p:sp>
      <p:sp>
        <p:nvSpPr>
          <p:cNvPr id="2" name="">
            <a:extLst xmlns:a="http://schemas.openxmlformats.org/drawingml/2006/main">
              <a:ext uri="{FF2B5EF4-FFF2-40B4-BE49-F238E27FC236}">
                <a16:creationId xmlns:a16="http://schemas.microsoft.com/office/drawing/2014/main" id="{3C0E380B-51C9-4E2C-9649-BB8FEE0EB465}"/>
              </a:ext>
            </a:extLst>
          </p:cNvPr>
          <p:cNvSpPr>
            <a:spLocks xmlns:a="http://schemas.openxmlformats.org/drawingml/2006/main" noGrp="1"/>
          </p:cNvSpPr>
          <p:nvPr/>
        </p:nvSpPr>
        <p:spPr>
          <a:xfrm xmlns:a="http://schemas.openxmlformats.org/drawingml/2006/main">
            <a:off x="685800" y="80010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654"/>
                </a:solidFill>
                <a:latin typeface="Arial"/>
                <a:ea typeface="Arial"/>
                <a:cs typeface="Arial"/>
              </a:defRPr>
            </a:pPr>
            <a:r>
              <a:rPr sz="3000" b="1">
                <a:solidFill>
                  <a:srgbClr val="0B3654"/>
                </a:solidFill>
                <a:latin typeface="Arial"/>
                <a:ea typeface="Arial"/>
                <a:cs typeface="Arial"/>
              </a:rPr>
              <a:t>Demo 1: Slack Answer</a:t>
            </a:r>
          </a:p>
        </p:txBody>
      </p:sp>
      <p:sp>
        <p:nvSpPr>
          <p:cNvPr id="3" name="">
            <a:extLst xmlns:a="http://schemas.openxmlformats.org/drawingml/2006/main">
              <a:ext uri="{FF2B5EF4-FFF2-40B4-BE49-F238E27FC236}">
                <a16:creationId xmlns:a16="http://schemas.microsoft.com/office/drawing/2014/main" id="{B10FE473-E53B-4345-A267-792F646EC1BD}"/>
              </a:ext>
            </a:extLst>
          </p:cNvPr>
          <p:cNvSpPr>
            <a:spLocks xmlns:a="http://schemas.openxmlformats.org/drawingml/2006/main" noGrp="1"/>
          </p:cNvSpPr>
          <p:nvPr/>
        </p:nvSpPr>
        <p:spPr>
          <a:xfrm xmlns:a="http://schemas.openxmlformats.org/drawingml/2006/main">
            <a:off x="685800" y="634365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MetaboCausal · AI Tinkerers Montréal · 12 Sep 2026</a:t>
            </a:r>
          </a:p>
        </p:txBody>
      </p:sp>
      <p:sp>
        <p:nvSpPr>
          <p:cNvPr id="4" name="">
            <a:extLst xmlns:a="http://schemas.openxmlformats.org/drawingml/2006/main">
              <a:ext uri="{FF2B5EF4-FFF2-40B4-BE49-F238E27FC236}">
                <a16:creationId xmlns:a16="http://schemas.microsoft.com/office/drawing/2014/main" id="{9622EF65-FA37-4F3C-8683-9C1806B607CD}"/>
              </a:ext>
            </a:extLst>
          </p:cNvPr>
          <p:cNvSpPr>
            <a:spLocks xmlns:a="http://schemas.openxmlformats.org/drawingml/2006/main" noGrp="1"/>
          </p:cNvSpPr>
          <p:nvPr/>
        </p:nvSpPr>
        <p:spPr>
          <a:xfrm xmlns:a="http://schemas.openxmlformats.org/drawingml/2006/main">
            <a:off x="10953750" y="63436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C1B97AEB-2A67-4B26-9A47-ED452135643B}"/>
              </a:ext>
            </a:extLst>
          </p:cNvPr>
          <p:cNvSpPr>
            <a:spLocks xmlns:a="http://schemas.openxmlformats.org/drawingml/2006/main" noGrp="1"/>
          </p:cNvSpPr>
          <p:nvPr/>
        </p:nvSpPr>
        <p:spPr>
          <a:xfrm xmlns:a="http://schemas.openxmlformats.org/drawingml/2006/main">
            <a:off x="685800" y="16764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500"/>
          </a:bodyPr>
          <a:lstStyle xmlns:a="http://schemas.openxmlformats.org/drawingml/2006/main"/>
          <a:p xmlns:a="http://schemas.openxmlformats.org/drawingml/2006/main">
            <a:pPr>
              <a:defRPr sz="3000" b="1">
                <a:solidFill>
                  <a:srgbClr val="0B3654"/>
                </a:solidFill>
                <a:latin typeface="Arial"/>
                <a:ea typeface="Arial"/>
                <a:cs typeface="Arial"/>
              </a:defRPr>
            </a:pPr>
            <a:r>
              <a:rPr sz="3000" b="1">
                <a:solidFill>
                  <a:srgbClr val="0B3654"/>
                </a:solidFill>
                <a:latin typeface="Arial"/>
                <a:ea typeface="Arial"/>
                <a:cs typeface="Arial"/>
              </a:rPr>
              <a:t>Switch to Slack now</a:t>
            </a:r>
          </a:p>
        </p:txBody>
      </p:sp>
      <p:sp>
        <p:nvSpPr>
          <p:cNvPr id="6" name="">
            <a:extLst xmlns:a="http://schemas.openxmlformats.org/drawingml/2006/main">
              <a:ext uri="{FF2B5EF4-FFF2-40B4-BE49-F238E27FC236}">
                <a16:creationId xmlns:a16="http://schemas.microsoft.com/office/drawing/2014/main" id="{54972FD4-83CB-4CD7-B6DB-FD8819B64B5B}"/>
              </a:ext>
            </a:extLst>
          </p:cNvPr>
          <p:cNvSpPr>
            <a:spLocks xmlns:a="http://schemas.openxmlformats.org/drawingml/2006/main" noGrp="1"/>
          </p:cNvSpPr>
          <p:nvPr/>
        </p:nvSpPr>
        <p:spPr>
          <a:xfrm xmlns:a="http://schemas.openxmlformats.org/drawingml/2006/main">
            <a:off x="819150" y="2809875"/>
            <a:ext cx="95250" cy="95250"/>
          </a:xfrm>
          <a:prstGeom xmlns:a="http://schemas.openxmlformats.org/drawingml/2006/main" prst="ellipse">
            <a:avLst/>
          </a:prstGeom>
          <a:solidFill xmlns:a="http://schemas.openxmlformats.org/drawingml/2006/main">
            <a:srgbClr val="0E7490"/>
          </a:solidFill>
          <a:ln xmlns:a="http://schemas.openxmlformats.org/drawingml/2006/main" w="0">
            <a:solidFill>
              <a:srgbClr val="0E7490"/>
            </a:solidFill>
          </a:ln>
        </p:spPr>
      </p:sp>
      <p:sp>
        <p:nvSpPr>
          <p:cNvPr id="7" name="">
            <a:extLst xmlns:a="http://schemas.openxmlformats.org/drawingml/2006/main">
              <a:ext uri="{FF2B5EF4-FFF2-40B4-BE49-F238E27FC236}">
                <a16:creationId xmlns:a16="http://schemas.microsoft.com/office/drawing/2014/main" id="{99F0E05A-3FA1-41BA-BBF3-27500D9EBD2A}"/>
              </a:ext>
            </a:extLst>
          </p:cNvPr>
          <p:cNvSpPr>
            <a:spLocks xmlns:a="http://schemas.openxmlformats.org/drawingml/2006/main" noGrp="1"/>
          </p:cNvSpPr>
          <p:nvPr/>
        </p:nvSpPr>
        <p:spPr>
          <a:xfrm xmlns:a="http://schemas.openxmlformats.org/drawingml/2006/main">
            <a:off x="1066800" y="2705100"/>
            <a:ext cx="914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0F172A"/>
                </a:solidFill>
                <a:latin typeface="Arial"/>
                <a:ea typeface="Arial"/>
                <a:cs typeface="Arial"/>
              </a:defRPr>
            </a:pPr>
            <a:r>
              <a:rPr sz="1875" b="0">
                <a:solidFill>
                  <a:srgbClr val="0F172A"/>
                </a:solidFill>
                <a:latin typeface="Arial"/>
                <a:ea typeface="Arial"/>
                <a:cs typeface="Arial"/>
              </a:rPr>
              <a:t>Show the user question in the channel or thread.</a:t>
            </a:r>
          </a:p>
        </p:txBody>
      </p:sp>
      <p:sp>
        <p:nvSpPr>
          <p:cNvPr id="8" name="">
            <a:extLst xmlns:a="http://schemas.openxmlformats.org/drawingml/2006/main">
              <a:ext uri="{FF2B5EF4-FFF2-40B4-BE49-F238E27FC236}">
                <a16:creationId xmlns:a16="http://schemas.microsoft.com/office/drawing/2014/main" id="{99A1685C-242C-45D4-AB78-DE26EC2692F6}"/>
              </a:ext>
            </a:extLst>
          </p:cNvPr>
          <p:cNvSpPr>
            <a:spLocks xmlns:a="http://schemas.openxmlformats.org/drawingml/2006/main" noGrp="1"/>
          </p:cNvSpPr>
          <p:nvPr/>
        </p:nvSpPr>
        <p:spPr>
          <a:xfrm xmlns:a="http://schemas.openxmlformats.org/drawingml/2006/main">
            <a:off x="819150" y="3438525"/>
            <a:ext cx="95250" cy="95250"/>
          </a:xfrm>
          <a:prstGeom xmlns:a="http://schemas.openxmlformats.org/drawingml/2006/main" prst="ellipse">
            <a:avLst/>
          </a:prstGeom>
          <a:solidFill xmlns:a="http://schemas.openxmlformats.org/drawingml/2006/main">
            <a:srgbClr val="15803D"/>
          </a:solidFill>
          <a:ln xmlns:a="http://schemas.openxmlformats.org/drawingml/2006/main" w="0">
            <a:solidFill>
              <a:srgbClr val="15803D"/>
            </a:solidFill>
          </a:ln>
        </p:spPr>
      </p:sp>
      <p:sp>
        <p:nvSpPr>
          <p:cNvPr id="9" name="">
            <a:extLst xmlns:a="http://schemas.openxmlformats.org/drawingml/2006/main">
              <a:ext uri="{FF2B5EF4-FFF2-40B4-BE49-F238E27FC236}">
                <a16:creationId xmlns:a16="http://schemas.microsoft.com/office/drawing/2014/main" id="{7BB474EC-2E8A-4469-BA38-34B06C76CB8C}"/>
              </a:ext>
            </a:extLst>
          </p:cNvPr>
          <p:cNvSpPr>
            <a:spLocks xmlns:a="http://schemas.openxmlformats.org/drawingml/2006/main" noGrp="1"/>
          </p:cNvSpPr>
          <p:nvPr/>
        </p:nvSpPr>
        <p:spPr>
          <a:xfrm xmlns:a="http://schemas.openxmlformats.org/drawingml/2006/main">
            <a:off x="1066800" y="3333750"/>
            <a:ext cx="914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0F172A"/>
                </a:solidFill>
                <a:latin typeface="Arial"/>
                <a:ea typeface="Arial"/>
                <a:cs typeface="Arial"/>
              </a:defRPr>
            </a:pPr>
            <a:r>
              <a:rPr sz="1875" b="0">
                <a:solidFill>
                  <a:srgbClr val="0F172A"/>
                </a:solidFill>
                <a:latin typeface="Arial"/>
                <a:ea typeface="Arial"/>
                <a:cs typeface="Arial"/>
              </a:rPr>
              <a:t>Show the compact answer and evidence status.</a:t>
            </a:r>
          </a:p>
        </p:txBody>
      </p:sp>
      <p:sp>
        <p:nvSpPr>
          <p:cNvPr id="10" name="">
            <a:extLst xmlns:a="http://schemas.openxmlformats.org/drawingml/2006/main">
              <a:ext uri="{FF2B5EF4-FFF2-40B4-BE49-F238E27FC236}">
                <a16:creationId xmlns:a16="http://schemas.microsoft.com/office/drawing/2014/main" id="{2AB3822D-DB72-4DCC-A82C-DFAC05A9BAFA}"/>
              </a:ext>
            </a:extLst>
          </p:cNvPr>
          <p:cNvSpPr>
            <a:spLocks xmlns:a="http://schemas.openxmlformats.org/drawingml/2006/main" noGrp="1"/>
          </p:cNvSpPr>
          <p:nvPr/>
        </p:nvSpPr>
        <p:spPr>
          <a:xfrm xmlns:a="http://schemas.openxmlformats.org/drawingml/2006/main">
            <a:off x="819150" y="4067175"/>
            <a:ext cx="95250" cy="9525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ln>
        </p:spPr>
      </p:sp>
      <p:sp>
        <p:nvSpPr>
          <p:cNvPr id="11" name="">
            <a:extLst xmlns:a="http://schemas.openxmlformats.org/drawingml/2006/main">
              <a:ext uri="{FF2B5EF4-FFF2-40B4-BE49-F238E27FC236}">
                <a16:creationId xmlns:a16="http://schemas.microsoft.com/office/drawing/2014/main" id="{788CFB39-1284-4838-A2D5-160A736DF48D}"/>
              </a:ext>
            </a:extLst>
          </p:cNvPr>
          <p:cNvSpPr>
            <a:spLocks xmlns:a="http://schemas.openxmlformats.org/drawingml/2006/main" noGrp="1"/>
          </p:cNvSpPr>
          <p:nvPr/>
        </p:nvSpPr>
        <p:spPr>
          <a:xfrm xmlns:a="http://schemas.openxmlformats.org/drawingml/2006/main">
            <a:off x="1066800" y="3962400"/>
            <a:ext cx="914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0F172A"/>
                </a:solidFill>
                <a:latin typeface="Arial"/>
                <a:ea typeface="Arial"/>
                <a:cs typeface="Arial"/>
              </a:defRPr>
            </a:pPr>
            <a:r>
              <a:rPr sz="1875" b="0">
                <a:solidFill>
                  <a:srgbClr val="0F172A"/>
                </a:solidFill>
                <a:latin typeface="Arial"/>
                <a:ea typeface="Arial"/>
                <a:cs typeface="Arial"/>
              </a:rPr>
              <a:t>Point to source links or attached evidence card.</a:t>
            </a:r>
          </a:p>
        </p:txBody>
      </p:sp>
      <p:sp>
        <p:nvSpPr>
          <p:cNvPr id="12" name="">
            <a:extLst xmlns:a="http://schemas.openxmlformats.org/drawingml/2006/main">
              <a:ext uri="{FF2B5EF4-FFF2-40B4-BE49-F238E27FC236}">
                <a16:creationId xmlns:a16="http://schemas.microsoft.com/office/drawing/2014/main" id="{CDB786EC-1590-4B53-B4B4-001AED1176F1}"/>
              </a:ext>
            </a:extLst>
          </p:cNvPr>
          <p:cNvSpPr>
            <a:spLocks xmlns:a="http://schemas.openxmlformats.org/drawingml/2006/main" noGrp="1"/>
          </p:cNvSpPr>
          <p:nvPr/>
        </p:nvSpPr>
        <p:spPr>
          <a:xfrm xmlns:a="http://schemas.openxmlformats.org/drawingml/2006/main">
            <a:off x="685800" y="5467350"/>
            <a:ext cx="10172700" cy="552450"/>
          </a:xfrm>
          <a:prstGeom xmlns:a="http://schemas.openxmlformats.org/drawingml/2006/main" prst="rect">
            <a:avLst/>
          </a:prstGeom>
          <a:solidFill xmlns:a="http://schemas.openxmlformats.org/drawingml/2006/main">
            <a:srgbClr val="E0F2FE"/>
          </a:solidFill>
          <a:ln xmlns:a="http://schemas.openxmlformats.org/drawingml/2006/main" w="9525">
            <a:solidFill>
              <a:srgbClr val="BAE6FD"/>
            </a:solidFill>
          </a:ln>
        </p:spPr>
      </p:sp>
      <p:sp>
        <p:nvSpPr>
          <p:cNvPr id="13" name="">
            <a:extLst xmlns:a="http://schemas.openxmlformats.org/drawingml/2006/main">
              <a:ext uri="{FF2B5EF4-FFF2-40B4-BE49-F238E27FC236}">
                <a16:creationId xmlns:a16="http://schemas.microsoft.com/office/drawing/2014/main" id="{3E432344-8F94-45A7-B003-36CE97E833DF}"/>
              </a:ext>
            </a:extLst>
          </p:cNvPr>
          <p:cNvSpPr>
            <a:spLocks xmlns:a="http://schemas.openxmlformats.org/drawingml/2006/main" noGrp="1"/>
          </p:cNvSpPr>
          <p:nvPr/>
        </p:nvSpPr>
        <p:spPr>
          <a:xfrm xmlns:a="http://schemas.openxmlformats.org/drawingml/2006/main">
            <a:off x="914400" y="56007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0C4A6E"/>
                </a:solidFill>
                <a:latin typeface="Arial"/>
                <a:ea typeface="Arial"/>
                <a:cs typeface="Arial"/>
              </a:defRPr>
            </a:pPr>
            <a:r>
              <a:rPr sz="1500" b="1">
                <a:solidFill>
                  <a:srgbClr val="0C4A6E"/>
                </a:solidFill>
                <a:latin typeface="Arial"/>
                <a:ea typeface="Arial"/>
                <a:cs typeface="Arial"/>
              </a:rPr>
              <a:t>Say: This is the part we want teams to actually use during discussion.</a:t>
            </a:r>
          </a:p>
        </p:txBody>
      </p:sp>
    </p:spTree>
    <p:extLst>
      <p:ext uri="{BB962C8B-B14F-4D97-AF65-F5344CB8AC3E}">
        <p14:creationId xmlns:p14="http://schemas.microsoft.com/office/powerpoint/2010/main" val="460455562"/>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8B9A655-C18E-4B3A-8C5B-58FC35875BF5}"/>
              </a:ext>
            </a:extLst>
          </p:cNvPr>
          <p:cNvSpPr>
            <a:spLocks xmlns:a="http://schemas.openxmlformats.org/drawingml/2006/main" noGrp="1"/>
          </p:cNvSpPr>
          <p:nvPr/>
        </p:nvSpPr>
        <p:spPr>
          <a:xfrm xmlns:a="http://schemas.openxmlformats.org/drawingml/2006/main">
            <a:off x="685800" y="514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0E7490"/>
                </a:solidFill>
                <a:latin typeface="Arial"/>
                <a:ea typeface="Arial"/>
                <a:cs typeface="Arial"/>
              </a:defRPr>
            </a:pPr>
            <a:r>
              <a:rPr sz="1050" b="1">
                <a:solidFill>
                  <a:srgbClr val="0E7490"/>
                </a:solidFill>
                <a:latin typeface="Arial"/>
                <a:ea typeface="Arial"/>
                <a:cs typeface="Arial"/>
              </a:rPr>
              <a:t>SHOW THE INSPECTABLE RECORD</a:t>
            </a:r>
          </a:p>
        </p:txBody>
      </p:sp>
      <p:sp>
        <p:nvSpPr>
          <p:cNvPr id="2" name="">
            <a:extLst xmlns:a="http://schemas.openxmlformats.org/drawingml/2006/main">
              <a:ext uri="{FF2B5EF4-FFF2-40B4-BE49-F238E27FC236}">
                <a16:creationId xmlns:a16="http://schemas.microsoft.com/office/drawing/2014/main" id="{C03536F8-27DC-443B-ABEB-056CBC0A6E56}"/>
              </a:ext>
            </a:extLst>
          </p:cNvPr>
          <p:cNvSpPr>
            <a:spLocks xmlns:a="http://schemas.openxmlformats.org/drawingml/2006/main" noGrp="1"/>
          </p:cNvSpPr>
          <p:nvPr/>
        </p:nvSpPr>
        <p:spPr>
          <a:xfrm xmlns:a="http://schemas.openxmlformats.org/drawingml/2006/main">
            <a:off x="685800" y="80010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654"/>
                </a:solidFill>
                <a:latin typeface="Arial"/>
                <a:ea typeface="Arial"/>
                <a:cs typeface="Arial"/>
              </a:defRPr>
            </a:pPr>
            <a:r>
              <a:rPr sz="3000" b="1">
                <a:solidFill>
                  <a:srgbClr val="0B3654"/>
                </a:solidFill>
                <a:latin typeface="Arial"/>
                <a:ea typeface="Arial"/>
                <a:cs typeface="Arial"/>
              </a:rPr>
              <a:t>Demo 2: HTML Evidence Card</a:t>
            </a:r>
          </a:p>
        </p:txBody>
      </p:sp>
      <p:sp>
        <p:nvSpPr>
          <p:cNvPr id="3" name="">
            <a:extLst xmlns:a="http://schemas.openxmlformats.org/drawingml/2006/main">
              <a:ext uri="{FF2B5EF4-FFF2-40B4-BE49-F238E27FC236}">
                <a16:creationId xmlns:a16="http://schemas.microsoft.com/office/drawing/2014/main" id="{A930FBE3-8050-4244-804C-D0E4B0CBD841}"/>
              </a:ext>
            </a:extLst>
          </p:cNvPr>
          <p:cNvSpPr>
            <a:spLocks xmlns:a="http://schemas.openxmlformats.org/drawingml/2006/main" noGrp="1"/>
          </p:cNvSpPr>
          <p:nvPr/>
        </p:nvSpPr>
        <p:spPr>
          <a:xfrm xmlns:a="http://schemas.openxmlformats.org/drawingml/2006/main">
            <a:off x="685800" y="634365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MetaboCausal · AI Tinkerers Montréal · 12 Sep 2026</a:t>
            </a:r>
          </a:p>
        </p:txBody>
      </p:sp>
      <p:sp>
        <p:nvSpPr>
          <p:cNvPr id="4" name="">
            <a:extLst xmlns:a="http://schemas.openxmlformats.org/drawingml/2006/main">
              <a:ext uri="{FF2B5EF4-FFF2-40B4-BE49-F238E27FC236}">
                <a16:creationId xmlns:a16="http://schemas.microsoft.com/office/drawing/2014/main" id="{089993D0-6262-46F7-814F-6966607329A0}"/>
              </a:ext>
            </a:extLst>
          </p:cNvPr>
          <p:cNvSpPr>
            <a:spLocks xmlns:a="http://schemas.openxmlformats.org/drawingml/2006/main" noGrp="1"/>
          </p:cNvSpPr>
          <p:nvPr/>
        </p:nvSpPr>
        <p:spPr>
          <a:xfrm xmlns:a="http://schemas.openxmlformats.org/drawingml/2006/main">
            <a:off x="10953750" y="63436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59A04535-B618-4D7C-9709-BF510722CA11}"/>
              </a:ext>
            </a:extLst>
          </p:cNvPr>
          <p:cNvSpPr>
            <a:spLocks xmlns:a="http://schemas.openxmlformats.org/drawingml/2006/main" noGrp="1"/>
          </p:cNvSpPr>
          <p:nvPr/>
        </p:nvSpPr>
        <p:spPr>
          <a:xfrm xmlns:a="http://schemas.openxmlformats.org/drawingml/2006/main">
            <a:off x="685800" y="161925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725"/>
          </a:bodyPr>
          <a:lstStyle xmlns:a="http://schemas.openxmlformats.org/drawingml/2006/main"/>
          <a:p xmlns:a="http://schemas.openxmlformats.org/drawingml/2006/main">
            <a:pPr>
              <a:defRPr sz="2550" b="1">
                <a:solidFill>
                  <a:srgbClr val="0B3654"/>
                </a:solidFill>
                <a:latin typeface="Arial"/>
                <a:ea typeface="Arial"/>
                <a:cs typeface="Arial"/>
              </a:defRPr>
            </a:pPr>
            <a:r>
              <a:rPr sz="2550" b="1">
                <a:solidFill>
                  <a:srgbClr val="0B3654"/>
                </a:solidFill>
                <a:latin typeface="Arial"/>
                <a:ea typeface="Arial"/>
                <a:cs typeface="Arial"/>
              </a:rPr>
              <a:t>HTML view keeps the gap visible</a:t>
            </a:r>
          </a:p>
        </p:txBody>
      </p:sp>
      <p:sp>
        <p:nvSpPr>
          <p:cNvPr id="6" name="">
            <a:extLst xmlns:a="http://schemas.openxmlformats.org/drawingml/2006/main">
              <a:ext uri="{FF2B5EF4-FFF2-40B4-BE49-F238E27FC236}">
                <a16:creationId xmlns:a16="http://schemas.microsoft.com/office/drawing/2014/main" id="{1098076D-345F-4AB5-A851-52682ECC5D8F}"/>
              </a:ext>
            </a:extLst>
          </p:cNvPr>
          <p:cNvSpPr>
            <a:spLocks xmlns:a="http://schemas.openxmlformats.org/drawingml/2006/main" noGrp="1"/>
          </p:cNvSpPr>
          <p:nvPr/>
        </p:nvSpPr>
        <p:spPr>
          <a:xfrm xmlns:a="http://schemas.openxmlformats.org/drawingml/2006/main">
            <a:off x="819150" y="2676525"/>
            <a:ext cx="95250" cy="95250"/>
          </a:xfrm>
          <a:prstGeom xmlns:a="http://schemas.openxmlformats.org/drawingml/2006/main" prst="ellipse">
            <a:avLst/>
          </a:prstGeom>
          <a:solidFill xmlns:a="http://schemas.openxmlformats.org/drawingml/2006/main">
            <a:srgbClr val="B45309"/>
          </a:solidFill>
          <a:ln xmlns:a="http://schemas.openxmlformats.org/drawingml/2006/main" w="0">
            <a:solidFill>
              <a:srgbClr val="B45309"/>
            </a:solidFill>
          </a:ln>
        </p:spPr>
      </p:sp>
      <p:sp>
        <p:nvSpPr>
          <p:cNvPr id="7" name="">
            <a:extLst xmlns:a="http://schemas.openxmlformats.org/drawingml/2006/main">
              <a:ext uri="{FF2B5EF4-FFF2-40B4-BE49-F238E27FC236}">
                <a16:creationId xmlns:a16="http://schemas.microsoft.com/office/drawing/2014/main" id="{5B31A6A3-41EA-451F-984F-7B76EADCF722}"/>
              </a:ext>
            </a:extLst>
          </p:cNvPr>
          <p:cNvSpPr>
            <a:spLocks xmlns:a="http://schemas.openxmlformats.org/drawingml/2006/main" noGrp="1"/>
          </p:cNvSpPr>
          <p:nvPr/>
        </p:nvSpPr>
        <p:spPr>
          <a:xfrm xmlns:a="http://schemas.openxmlformats.org/drawingml/2006/main">
            <a:off x="1066800" y="25717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0F172A"/>
                </a:solidFill>
                <a:latin typeface="Arial"/>
                <a:ea typeface="Arial"/>
                <a:cs typeface="Arial"/>
              </a:defRPr>
            </a:pPr>
            <a:r>
              <a:rPr sz="1650" b="0">
                <a:solidFill>
                  <a:srgbClr val="0F172A"/>
                </a:solidFill>
                <a:latin typeface="Arial"/>
                <a:ea typeface="Arial"/>
                <a:cs typeface="Arial"/>
              </a:rPr>
              <a:t>State C is shown as a gap, not as no effect.</a:t>
            </a:r>
          </a:p>
        </p:txBody>
      </p:sp>
      <p:sp>
        <p:nvSpPr>
          <p:cNvPr id="8" name="">
            <a:extLst xmlns:a="http://schemas.openxmlformats.org/drawingml/2006/main">
              <a:ext uri="{FF2B5EF4-FFF2-40B4-BE49-F238E27FC236}">
                <a16:creationId xmlns:a16="http://schemas.microsoft.com/office/drawing/2014/main" id="{BE288596-C77E-4720-ACA4-BEE713876E6B}"/>
              </a:ext>
            </a:extLst>
          </p:cNvPr>
          <p:cNvSpPr>
            <a:spLocks xmlns:a="http://schemas.openxmlformats.org/drawingml/2006/main" noGrp="1"/>
          </p:cNvSpPr>
          <p:nvPr/>
        </p:nvSpPr>
        <p:spPr>
          <a:xfrm xmlns:a="http://schemas.openxmlformats.org/drawingml/2006/main">
            <a:off x="819150" y="3305175"/>
            <a:ext cx="95250" cy="95250"/>
          </a:xfrm>
          <a:prstGeom xmlns:a="http://schemas.openxmlformats.org/drawingml/2006/main" prst="ellipse">
            <a:avLst/>
          </a:prstGeom>
          <a:solidFill xmlns:a="http://schemas.openxmlformats.org/drawingml/2006/main">
            <a:srgbClr val="0E7490"/>
          </a:solidFill>
          <a:ln xmlns:a="http://schemas.openxmlformats.org/drawingml/2006/main" w="0">
            <a:solidFill>
              <a:srgbClr val="0E7490"/>
            </a:solidFill>
          </a:ln>
        </p:spPr>
      </p:sp>
      <p:sp>
        <p:nvSpPr>
          <p:cNvPr id="9" name="">
            <a:extLst xmlns:a="http://schemas.openxmlformats.org/drawingml/2006/main">
              <a:ext uri="{FF2B5EF4-FFF2-40B4-BE49-F238E27FC236}">
                <a16:creationId xmlns:a16="http://schemas.microsoft.com/office/drawing/2014/main" id="{0DD3FD35-5C4E-4B1A-B2E7-B5E9B212E2E4}"/>
              </a:ext>
            </a:extLst>
          </p:cNvPr>
          <p:cNvSpPr>
            <a:spLocks xmlns:a="http://schemas.openxmlformats.org/drawingml/2006/main" noGrp="1"/>
          </p:cNvSpPr>
          <p:nvPr/>
        </p:nvSpPr>
        <p:spPr>
          <a:xfrm xmlns:a="http://schemas.openxmlformats.org/drawingml/2006/main">
            <a:off x="1066800" y="32004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11"/>
          </a:bodyPr>
          <a:lstStyle xmlns:a="http://schemas.openxmlformats.org/drawingml/2006/main"/>
          <a:p xmlns:a="http://schemas.openxmlformats.org/drawingml/2006/main">
            <a:pPr>
              <a:defRPr sz="1650" b="0">
                <a:solidFill>
                  <a:srgbClr val="0F172A"/>
                </a:solidFill>
                <a:latin typeface="Arial"/>
                <a:ea typeface="Arial"/>
                <a:cs typeface="Arial"/>
              </a:defRPr>
            </a:pPr>
            <a:r>
              <a:rPr sz="1650" b="0">
                <a:solidFill>
                  <a:srgbClr val="0F172A"/>
                </a:solidFill>
                <a:latin typeface="Arial"/>
                <a:ea typeface="Arial"/>
                <a:cs typeface="Arial"/>
              </a:rPr>
              <a:t>Provenance records the source and run scope.</a:t>
            </a:r>
          </a:p>
        </p:txBody>
      </p:sp>
      <p:sp>
        <p:nvSpPr>
          <p:cNvPr id="10" name="">
            <a:extLst xmlns:a="http://schemas.openxmlformats.org/drawingml/2006/main">
              <a:ext uri="{FF2B5EF4-FFF2-40B4-BE49-F238E27FC236}">
                <a16:creationId xmlns:a16="http://schemas.microsoft.com/office/drawing/2014/main" id="{F0F04BB7-FEC9-41AD-9727-6D116F589495}"/>
              </a:ext>
            </a:extLst>
          </p:cNvPr>
          <p:cNvSpPr>
            <a:spLocks xmlns:a="http://schemas.openxmlformats.org/drawingml/2006/main" noGrp="1"/>
          </p:cNvSpPr>
          <p:nvPr/>
        </p:nvSpPr>
        <p:spPr>
          <a:xfrm xmlns:a="http://schemas.openxmlformats.org/drawingml/2006/main">
            <a:off x="819150" y="3933825"/>
            <a:ext cx="95250" cy="95250"/>
          </a:xfrm>
          <a:prstGeom xmlns:a="http://schemas.openxmlformats.org/drawingml/2006/main" prst="ellipse">
            <a:avLst/>
          </a:prstGeom>
          <a:solidFill xmlns:a="http://schemas.openxmlformats.org/drawingml/2006/main">
            <a:srgbClr val="15803D"/>
          </a:solidFill>
          <a:ln xmlns:a="http://schemas.openxmlformats.org/drawingml/2006/main" w="0">
            <a:solidFill>
              <a:srgbClr val="15803D"/>
            </a:solidFill>
          </a:ln>
        </p:spPr>
      </p:sp>
      <p:sp>
        <p:nvSpPr>
          <p:cNvPr id="11" name="">
            <a:extLst xmlns:a="http://schemas.openxmlformats.org/drawingml/2006/main">
              <a:ext uri="{FF2B5EF4-FFF2-40B4-BE49-F238E27FC236}">
                <a16:creationId xmlns:a16="http://schemas.microsoft.com/office/drawing/2014/main" id="{EDF455C9-9420-4AE6-8A7B-A74139AEF770}"/>
              </a:ext>
            </a:extLst>
          </p:cNvPr>
          <p:cNvSpPr>
            <a:spLocks xmlns:a="http://schemas.openxmlformats.org/drawingml/2006/main" noGrp="1"/>
          </p:cNvSpPr>
          <p:nvPr/>
        </p:nvSpPr>
        <p:spPr>
          <a:xfrm xmlns:a="http://schemas.openxmlformats.org/drawingml/2006/main">
            <a:off x="1066800" y="382905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93"/>
          </a:bodyPr>
          <a:lstStyle xmlns:a="http://schemas.openxmlformats.org/drawingml/2006/main"/>
          <a:p xmlns:a="http://schemas.openxmlformats.org/drawingml/2006/main">
            <a:pPr>
              <a:defRPr sz="1650" b="0">
                <a:solidFill>
                  <a:srgbClr val="0F172A"/>
                </a:solidFill>
                <a:latin typeface="Arial"/>
                <a:ea typeface="Arial"/>
                <a:cs typeface="Arial"/>
              </a:defRPr>
            </a:pPr>
            <a:r>
              <a:rPr sz="1650" b="0">
                <a:solidFill>
                  <a:srgbClr val="0F172A"/>
                </a:solidFill>
                <a:latin typeface="Arial"/>
                <a:ea typeface="Arial"/>
                <a:cs typeface="Arial"/>
              </a:rPr>
              <a:t>Next action tells the team what to check next.</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0ed03d9aa824716"/>
          <a:stretch xmlns:a="http://schemas.openxmlformats.org/drawingml/2006/main"/>
        </p:blipFill>
        <p:spPr>
          <a:xfrm xmlns:a="http://schemas.openxmlformats.org/drawingml/2006/main">
            <a:off x="5810250" y="1738119"/>
            <a:ext cx="5429250" cy="2810262"/>
          </a:xfrm>
          <a:prstGeom xmlns:a="http://schemas.openxmlformats.org/drawingml/2006/main" prst="roundRect">
            <a:avLst>
              <a:gd name="adj" fmla="val 3333"/>
            </a:avLst>
          </a:prstGeom>
        </p:spPr>
      </p:pic>
      <p:sp>
        <p:nvSpPr>
          <p:cNvPr id="13" name="">
            <a:extLst xmlns:a="http://schemas.openxmlformats.org/drawingml/2006/main">
              <a:ext uri="{FF2B5EF4-FFF2-40B4-BE49-F238E27FC236}">
                <a16:creationId xmlns:a16="http://schemas.microsoft.com/office/drawing/2014/main" id="{DB1780AA-378E-4BDA-AAE6-4B7D79C17AF6}"/>
              </a:ext>
            </a:extLst>
          </p:cNvPr>
          <p:cNvSpPr>
            <a:spLocks xmlns:a="http://schemas.openxmlformats.org/drawingml/2006/main" noGrp="1"/>
          </p:cNvSpPr>
          <p:nvPr/>
        </p:nvSpPr>
        <p:spPr>
          <a:xfrm xmlns:a="http://schemas.openxmlformats.org/drawingml/2006/main">
            <a:off x="685800" y="5467350"/>
            <a:ext cx="10172700" cy="552450"/>
          </a:xfrm>
          <a:prstGeom xmlns:a="http://schemas.openxmlformats.org/drawingml/2006/main" prst="rect">
            <a:avLst/>
          </a:prstGeom>
          <a:solidFill xmlns:a="http://schemas.openxmlformats.org/drawingml/2006/main">
            <a:srgbClr val="E0F2FE"/>
          </a:solidFill>
          <a:ln xmlns:a="http://schemas.openxmlformats.org/drawingml/2006/main" w="9525">
            <a:solidFill>
              <a:srgbClr val="BAE6FD"/>
            </a:solidFill>
          </a:ln>
        </p:spPr>
      </p:sp>
      <p:sp>
        <p:nvSpPr>
          <p:cNvPr id="14" name="">
            <a:extLst xmlns:a="http://schemas.openxmlformats.org/drawingml/2006/main">
              <a:ext uri="{FF2B5EF4-FFF2-40B4-BE49-F238E27FC236}">
                <a16:creationId xmlns:a16="http://schemas.microsoft.com/office/drawing/2014/main" id="{DC2241CA-FDCF-4AE2-8050-DB7883B435C0}"/>
              </a:ext>
            </a:extLst>
          </p:cNvPr>
          <p:cNvSpPr>
            <a:spLocks xmlns:a="http://schemas.openxmlformats.org/drawingml/2006/main" noGrp="1"/>
          </p:cNvSpPr>
          <p:nvPr/>
        </p:nvSpPr>
        <p:spPr>
          <a:xfrm xmlns:a="http://schemas.openxmlformats.org/drawingml/2006/main">
            <a:off x="914400" y="56007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0C4A6E"/>
                </a:solidFill>
                <a:latin typeface="Arial"/>
                <a:ea typeface="Arial"/>
                <a:cs typeface="Arial"/>
              </a:defRPr>
            </a:pPr>
            <a:r>
              <a:rPr sz="1500" b="1">
                <a:solidFill>
                  <a:srgbClr val="0C4A6E"/>
                </a:solidFill>
                <a:latin typeface="Arial"/>
                <a:ea typeface="Arial"/>
                <a:cs typeface="Arial"/>
              </a:rPr>
              <a:t>Say: This is why the card matters: it shows the gap instead of hiding it.</a:t>
            </a:r>
          </a:p>
        </p:txBody>
      </p:sp>
    </p:spTree>
    <p:extLst>
      <p:ext uri="{BB962C8B-B14F-4D97-AF65-F5344CB8AC3E}">
        <p14:creationId xmlns:p14="http://schemas.microsoft.com/office/powerpoint/2010/main" val="1957224295"/>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EDE6E71-C0FE-4CA2-8374-785D72FA7AF9}"/>
              </a:ext>
            </a:extLst>
          </p:cNvPr>
          <p:cNvSpPr>
            <a:spLocks xmlns:a="http://schemas.openxmlformats.org/drawingml/2006/main" noGrp="1"/>
          </p:cNvSpPr>
          <p:nvPr/>
        </p:nvSpPr>
        <p:spPr>
          <a:xfrm xmlns:a="http://schemas.openxmlformats.org/drawingml/2006/main">
            <a:off x="685800" y="514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0E7490"/>
                </a:solidFill>
                <a:latin typeface="Arial"/>
                <a:ea typeface="Arial"/>
                <a:cs typeface="Arial"/>
              </a:defRPr>
            </a:pPr>
            <a:r>
              <a:rPr sz="1050" b="1">
                <a:solidFill>
                  <a:srgbClr val="0E7490"/>
                </a:solidFill>
                <a:latin typeface="Arial"/>
                <a:ea typeface="Arial"/>
                <a:cs typeface="Arial"/>
              </a:rPr>
              <a:t>SHOW THE GUARDRAIL</a:t>
            </a:r>
          </a:p>
        </p:txBody>
      </p:sp>
      <p:sp>
        <p:nvSpPr>
          <p:cNvPr id="2" name="">
            <a:extLst xmlns:a="http://schemas.openxmlformats.org/drawingml/2006/main">
              <a:ext uri="{FF2B5EF4-FFF2-40B4-BE49-F238E27FC236}">
                <a16:creationId xmlns:a16="http://schemas.microsoft.com/office/drawing/2014/main" id="{B3E5DD68-49E5-4A2D-9523-90DB03FB6066}"/>
              </a:ext>
            </a:extLst>
          </p:cNvPr>
          <p:cNvSpPr>
            <a:spLocks xmlns:a="http://schemas.openxmlformats.org/drawingml/2006/main" noGrp="1"/>
          </p:cNvSpPr>
          <p:nvPr/>
        </p:nvSpPr>
        <p:spPr>
          <a:xfrm xmlns:a="http://schemas.openxmlformats.org/drawingml/2006/main">
            <a:off x="685800" y="80010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654"/>
                </a:solidFill>
                <a:latin typeface="Arial"/>
                <a:ea typeface="Arial"/>
                <a:cs typeface="Arial"/>
              </a:defRPr>
            </a:pPr>
            <a:r>
              <a:rPr sz="3000" b="1">
                <a:solidFill>
                  <a:srgbClr val="0B3654"/>
                </a:solidFill>
                <a:latin typeface="Arial"/>
                <a:ea typeface="Arial"/>
                <a:cs typeface="Arial"/>
              </a:rPr>
              <a:t>Demo 3: Challenge Prompt</a:t>
            </a:r>
          </a:p>
        </p:txBody>
      </p:sp>
      <p:sp>
        <p:nvSpPr>
          <p:cNvPr id="3" name="">
            <a:extLst xmlns:a="http://schemas.openxmlformats.org/drawingml/2006/main">
              <a:ext uri="{FF2B5EF4-FFF2-40B4-BE49-F238E27FC236}">
                <a16:creationId xmlns:a16="http://schemas.microsoft.com/office/drawing/2014/main" id="{0E70634A-7549-42A5-945D-34A14203AF71}"/>
              </a:ext>
            </a:extLst>
          </p:cNvPr>
          <p:cNvSpPr>
            <a:spLocks xmlns:a="http://schemas.openxmlformats.org/drawingml/2006/main" noGrp="1"/>
          </p:cNvSpPr>
          <p:nvPr/>
        </p:nvSpPr>
        <p:spPr>
          <a:xfrm xmlns:a="http://schemas.openxmlformats.org/drawingml/2006/main">
            <a:off x="685800" y="634365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MetaboCausal · AI Tinkerers Montréal · 12 Sep 2026</a:t>
            </a:r>
          </a:p>
        </p:txBody>
      </p:sp>
      <p:sp>
        <p:nvSpPr>
          <p:cNvPr id="4" name="">
            <a:extLst xmlns:a="http://schemas.openxmlformats.org/drawingml/2006/main">
              <a:ext uri="{FF2B5EF4-FFF2-40B4-BE49-F238E27FC236}">
                <a16:creationId xmlns:a16="http://schemas.microsoft.com/office/drawing/2014/main" id="{0A0E3768-DEBF-4EBA-864F-585AA34CCB59}"/>
              </a:ext>
            </a:extLst>
          </p:cNvPr>
          <p:cNvSpPr>
            <a:spLocks xmlns:a="http://schemas.openxmlformats.org/drawingml/2006/main" noGrp="1"/>
          </p:cNvSpPr>
          <p:nvPr/>
        </p:nvSpPr>
        <p:spPr>
          <a:xfrm xmlns:a="http://schemas.openxmlformats.org/drawingml/2006/main">
            <a:off x="10953750" y="63436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319FE0B7-3047-43CF-A029-C0A61AD71AAA}"/>
              </a:ext>
            </a:extLst>
          </p:cNvPr>
          <p:cNvSpPr>
            <a:spLocks xmlns:a="http://schemas.openxmlformats.org/drawingml/2006/main" noGrp="1"/>
          </p:cNvSpPr>
          <p:nvPr/>
        </p:nvSpPr>
        <p:spPr>
          <a:xfrm xmlns:a="http://schemas.openxmlformats.org/drawingml/2006/main">
            <a:off x="685800" y="167640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500"/>
          </a:bodyPr>
          <a:lstStyle xmlns:a="http://schemas.openxmlformats.org/drawingml/2006/main"/>
          <a:p xmlns:a="http://schemas.openxmlformats.org/drawingml/2006/main">
            <a:pPr>
              <a:defRPr sz="3000" b="1">
                <a:solidFill>
                  <a:srgbClr val="0B3654"/>
                </a:solidFill>
                <a:latin typeface="Arial"/>
                <a:ea typeface="Arial"/>
                <a:cs typeface="Arial"/>
              </a:defRPr>
            </a:pPr>
            <a:r>
              <a:rPr sz="3000" b="1">
                <a:solidFill>
                  <a:srgbClr val="0B3654"/>
                </a:solidFill>
                <a:latin typeface="Arial"/>
                <a:ea typeface="Arial"/>
                <a:cs typeface="Arial"/>
              </a:rPr>
              <a:t>Switch back to Slack</a:t>
            </a:r>
          </a:p>
        </p:txBody>
      </p:sp>
      <p:sp>
        <p:nvSpPr>
          <p:cNvPr id="6" name="">
            <a:extLst xmlns:a="http://schemas.openxmlformats.org/drawingml/2006/main">
              <a:ext uri="{FF2B5EF4-FFF2-40B4-BE49-F238E27FC236}">
                <a16:creationId xmlns:a16="http://schemas.microsoft.com/office/drawing/2014/main" id="{52033EBD-C946-45DB-B062-E81546B30EEE}"/>
              </a:ext>
            </a:extLst>
          </p:cNvPr>
          <p:cNvSpPr>
            <a:spLocks xmlns:a="http://schemas.openxmlformats.org/drawingml/2006/main" noGrp="1"/>
          </p:cNvSpPr>
          <p:nvPr/>
        </p:nvSpPr>
        <p:spPr>
          <a:xfrm xmlns:a="http://schemas.openxmlformats.org/drawingml/2006/main">
            <a:off x="819150" y="2809875"/>
            <a:ext cx="95250" cy="95250"/>
          </a:xfrm>
          <a:prstGeom xmlns:a="http://schemas.openxmlformats.org/drawingml/2006/main" prst="ellipse">
            <a:avLst/>
          </a:prstGeom>
          <a:solidFill xmlns:a="http://schemas.openxmlformats.org/drawingml/2006/main">
            <a:srgbClr val="B45309"/>
          </a:solidFill>
          <a:ln xmlns:a="http://schemas.openxmlformats.org/drawingml/2006/main" w="0">
            <a:solidFill>
              <a:srgbClr val="B45309"/>
            </a:solidFill>
          </a:ln>
        </p:spPr>
      </p:sp>
      <p:sp>
        <p:nvSpPr>
          <p:cNvPr id="7" name="">
            <a:extLst xmlns:a="http://schemas.openxmlformats.org/drawingml/2006/main">
              <a:ext uri="{FF2B5EF4-FFF2-40B4-BE49-F238E27FC236}">
                <a16:creationId xmlns:a16="http://schemas.microsoft.com/office/drawing/2014/main" id="{5E557400-3E92-4778-B95D-AE6991452A3E}"/>
              </a:ext>
            </a:extLst>
          </p:cNvPr>
          <p:cNvSpPr>
            <a:spLocks xmlns:a="http://schemas.openxmlformats.org/drawingml/2006/main" noGrp="1"/>
          </p:cNvSpPr>
          <p:nvPr/>
        </p:nvSpPr>
        <p:spPr>
          <a:xfrm xmlns:a="http://schemas.openxmlformats.org/drawingml/2006/main">
            <a:off x="1066800" y="2705100"/>
            <a:ext cx="914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0F172A"/>
                </a:solidFill>
                <a:latin typeface="Arial"/>
                <a:ea typeface="Arial"/>
                <a:cs typeface="Arial"/>
              </a:defRPr>
            </a:pPr>
            <a:r>
              <a:rPr sz="1875" b="0">
                <a:solidFill>
                  <a:srgbClr val="0F172A"/>
                </a:solidFill>
                <a:latin typeface="Arial"/>
                <a:ea typeface="Arial"/>
                <a:cs typeface="Arial"/>
              </a:rPr>
              <a:t>Show the deliberately wrong prompt.</a:t>
            </a:r>
          </a:p>
        </p:txBody>
      </p:sp>
      <p:sp>
        <p:nvSpPr>
          <p:cNvPr id="8" name="">
            <a:extLst xmlns:a="http://schemas.openxmlformats.org/drawingml/2006/main">
              <a:ext uri="{FF2B5EF4-FFF2-40B4-BE49-F238E27FC236}">
                <a16:creationId xmlns:a16="http://schemas.microsoft.com/office/drawing/2014/main" id="{ED705931-506E-4141-A627-7DD047A89621}"/>
              </a:ext>
            </a:extLst>
          </p:cNvPr>
          <p:cNvSpPr>
            <a:spLocks xmlns:a="http://schemas.openxmlformats.org/drawingml/2006/main" noGrp="1"/>
          </p:cNvSpPr>
          <p:nvPr/>
        </p:nvSpPr>
        <p:spPr>
          <a:xfrm xmlns:a="http://schemas.openxmlformats.org/drawingml/2006/main">
            <a:off x="819150" y="3438525"/>
            <a:ext cx="95250" cy="95250"/>
          </a:xfrm>
          <a:prstGeom xmlns:a="http://schemas.openxmlformats.org/drawingml/2006/main" prst="ellipse">
            <a:avLst/>
          </a:prstGeom>
          <a:solidFill xmlns:a="http://schemas.openxmlformats.org/drawingml/2006/main">
            <a:srgbClr val="15803D"/>
          </a:solidFill>
          <a:ln xmlns:a="http://schemas.openxmlformats.org/drawingml/2006/main" w="0">
            <a:solidFill>
              <a:srgbClr val="15803D"/>
            </a:solidFill>
          </a:ln>
        </p:spPr>
      </p:sp>
      <p:sp>
        <p:nvSpPr>
          <p:cNvPr id="9" name="">
            <a:extLst xmlns:a="http://schemas.openxmlformats.org/drawingml/2006/main">
              <a:ext uri="{FF2B5EF4-FFF2-40B4-BE49-F238E27FC236}">
                <a16:creationId xmlns:a16="http://schemas.microsoft.com/office/drawing/2014/main" id="{DF3E40D6-3FAC-4059-9C99-FE71F239DC82}"/>
              </a:ext>
            </a:extLst>
          </p:cNvPr>
          <p:cNvSpPr>
            <a:spLocks xmlns:a="http://schemas.openxmlformats.org/drawingml/2006/main" noGrp="1"/>
          </p:cNvSpPr>
          <p:nvPr/>
        </p:nvSpPr>
        <p:spPr>
          <a:xfrm xmlns:a="http://schemas.openxmlformats.org/drawingml/2006/main">
            <a:off x="1066800" y="3333750"/>
            <a:ext cx="914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0F172A"/>
                </a:solidFill>
                <a:latin typeface="Arial"/>
                <a:ea typeface="Arial"/>
                <a:cs typeface="Arial"/>
              </a:defRPr>
            </a:pPr>
            <a:r>
              <a:rPr sz="1875" b="0">
                <a:solidFill>
                  <a:srgbClr val="0F172A"/>
                </a:solidFill>
                <a:latin typeface="Arial"/>
                <a:ea typeface="Arial"/>
                <a:cs typeface="Arial"/>
              </a:rPr>
              <a:t>Show that the agent rejects unsupported evidence.</a:t>
            </a:r>
          </a:p>
        </p:txBody>
      </p:sp>
      <p:sp>
        <p:nvSpPr>
          <p:cNvPr id="10" name="">
            <a:extLst xmlns:a="http://schemas.openxmlformats.org/drawingml/2006/main">
              <a:ext uri="{FF2B5EF4-FFF2-40B4-BE49-F238E27FC236}">
                <a16:creationId xmlns:a16="http://schemas.microsoft.com/office/drawing/2014/main" id="{F061E72C-E2C4-49E6-A9EE-9F08FEFCCD13}"/>
              </a:ext>
            </a:extLst>
          </p:cNvPr>
          <p:cNvSpPr>
            <a:spLocks xmlns:a="http://schemas.openxmlformats.org/drawingml/2006/main" noGrp="1"/>
          </p:cNvSpPr>
          <p:nvPr/>
        </p:nvSpPr>
        <p:spPr>
          <a:xfrm xmlns:a="http://schemas.openxmlformats.org/drawingml/2006/main">
            <a:off x="819150" y="4067175"/>
            <a:ext cx="95250" cy="9525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ln>
        </p:spPr>
      </p:sp>
      <p:sp>
        <p:nvSpPr>
          <p:cNvPr id="11" name="">
            <a:extLst xmlns:a="http://schemas.openxmlformats.org/drawingml/2006/main">
              <a:ext uri="{FF2B5EF4-FFF2-40B4-BE49-F238E27FC236}">
                <a16:creationId xmlns:a16="http://schemas.microsoft.com/office/drawing/2014/main" id="{A571AAA7-FC13-4B81-B168-1376B79FEEEB}"/>
              </a:ext>
            </a:extLst>
          </p:cNvPr>
          <p:cNvSpPr>
            <a:spLocks xmlns:a="http://schemas.openxmlformats.org/drawingml/2006/main" noGrp="1"/>
          </p:cNvSpPr>
          <p:nvPr/>
        </p:nvSpPr>
        <p:spPr>
          <a:xfrm xmlns:a="http://schemas.openxmlformats.org/drawingml/2006/main">
            <a:off x="1066800" y="3962400"/>
            <a:ext cx="914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0F172A"/>
                </a:solidFill>
                <a:latin typeface="Arial"/>
                <a:ea typeface="Arial"/>
                <a:cs typeface="Arial"/>
              </a:defRPr>
            </a:pPr>
            <a:r>
              <a:rPr sz="1875" b="0">
                <a:solidFill>
                  <a:srgbClr val="0F172A"/>
                </a:solidFill>
                <a:latin typeface="Arial"/>
                <a:ea typeface="Arial"/>
                <a:cs typeface="Arial"/>
              </a:rPr>
              <a:t>Say this is one safeguard test, not proof that hallucination is impossible.</a:t>
            </a:r>
          </a:p>
        </p:txBody>
      </p:sp>
      <p:sp>
        <p:nvSpPr>
          <p:cNvPr id="12" name="">
            <a:extLst xmlns:a="http://schemas.openxmlformats.org/drawingml/2006/main">
              <a:ext uri="{FF2B5EF4-FFF2-40B4-BE49-F238E27FC236}">
                <a16:creationId xmlns:a16="http://schemas.microsoft.com/office/drawing/2014/main" id="{1C316F12-39E3-4F0C-B997-A05120F869EA}"/>
              </a:ext>
            </a:extLst>
          </p:cNvPr>
          <p:cNvSpPr>
            <a:spLocks xmlns:a="http://schemas.openxmlformats.org/drawingml/2006/main" noGrp="1"/>
          </p:cNvSpPr>
          <p:nvPr/>
        </p:nvSpPr>
        <p:spPr>
          <a:xfrm xmlns:a="http://schemas.openxmlformats.org/drawingml/2006/main">
            <a:off x="685800" y="5467350"/>
            <a:ext cx="10172700" cy="552450"/>
          </a:xfrm>
          <a:prstGeom xmlns:a="http://schemas.openxmlformats.org/drawingml/2006/main" prst="rect">
            <a:avLst/>
          </a:prstGeom>
          <a:solidFill xmlns:a="http://schemas.openxmlformats.org/drawingml/2006/main">
            <a:srgbClr val="E0F2FE"/>
          </a:solidFill>
          <a:ln xmlns:a="http://schemas.openxmlformats.org/drawingml/2006/main" w="9525">
            <a:solidFill>
              <a:srgbClr val="BAE6FD"/>
            </a:solidFill>
          </a:ln>
        </p:spPr>
      </p:sp>
      <p:sp>
        <p:nvSpPr>
          <p:cNvPr id="13" name="">
            <a:extLst xmlns:a="http://schemas.openxmlformats.org/drawingml/2006/main">
              <a:ext uri="{FF2B5EF4-FFF2-40B4-BE49-F238E27FC236}">
                <a16:creationId xmlns:a16="http://schemas.microsoft.com/office/drawing/2014/main" id="{2FDE61BC-704B-48F7-9E66-9401715420AB}"/>
              </a:ext>
            </a:extLst>
          </p:cNvPr>
          <p:cNvSpPr>
            <a:spLocks xmlns:a="http://schemas.openxmlformats.org/drawingml/2006/main" noGrp="1"/>
          </p:cNvSpPr>
          <p:nvPr/>
        </p:nvSpPr>
        <p:spPr>
          <a:xfrm xmlns:a="http://schemas.openxmlformats.org/drawingml/2006/main">
            <a:off x="914400" y="56007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0C4A6E"/>
                </a:solidFill>
                <a:latin typeface="Arial"/>
                <a:ea typeface="Arial"/>
                <a:cs typeface="Arial"/>
              </a:defRPr>
            </a:pPr>
            <a:r>
              <a:rPr sz="1500" b="1">
                <a:solidFill>
                  <a:srgbClr val="0C4A6E"/>
                </a:solidFill>
                <a:latin typeface="Arial"/>
                <a:ea typeface="Arial"/>
                <a:cs typeface="Arial"/>
              </a:rPr>
              <a:t>Say: In this test, the agent refused an unsupported claim instead of making one up.</a:t>
            </a:r>
          </a:p>
        </p:txBody>
      </p:sp>
    </p:spTree>
    <p:extLst>
      <p:ext uri="{BB962C8B-B14F-4D97-AF65-F5344CB8AC3E}">
        <p14:creationId xmlns:p14="http://schemas.microsoft.com/office/powerpoint/2010/main" val="180976842"/>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7E56761-9520-4752-89D9-EE6D78A6D714}"/>
              </a:ext>
            </a:extLst>
          </p:cNvPr>
          <p:cNvSpPr>
            <a:spLocks xmlns:a="http://schemas.openxmlformats.org/drawingml/2006/main" noGrp="1"/>
          </p:cNvSpPr>
          <p:nvPr/>
        </p:nvSpPr>
        <p:spPr>
          <a:xfrm xmlns:a="http://schemas.openxmlformats.org/drawingml/2006/main">
            <a:off x="685800" y="514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714"/>
          </a:bodyPr>
          <a:lstStyle xmlns:a="http://schemas.openxmlformats.org/drawingml/2006/main"/>
          <a:p xmlns:a="http://schemas.openxmlformats.org/drawingml/2006/main">
            <a:pPr>
              <a:defRPr sz="1050" b="1">
                <a:solidFill>
                  <a:srgbClr val="0E7490"/>
                </a:solidFill>
                <a:latin typeface="Arial"/>
                <a:ea typeface="Arial"/>
                <a:cs typeface="Arial"/>
              </a:defRPr>
            </a:pPr>
            <a:r>
              <a:rPr sz="1050" b="1">
                <a:solidFill>
                  <a:srgbClr val="0E7490"/>
                </a:solidFill>
                <a:latin typeface="Arial"/>
                <a:ea typeface="Arial"/>
                <a:cs typeface="Arial"/>
              </a:rPr>
              <a:t>CONTRIBUTION AND NEXT STEPS</a:t>
            </a:r>
          </a:p>
        </p:txBody>
      </p:sp>
      <p:sp>
        <p:nvSpPr>
          <p:cNvPr id="2" name="">
            <a:extLst xmlns:a="http://schemas.openxmlformats.org/drawingml/2006/main">
              <a:ext uri="{FF2B5EF4-FFF2-40B4-BE49-F238E27FC236}">
                <a16:creationId xmlns:a16="http://schemas.microsoft.com/office/drawing/2014/main" id="{756AC34B-7BDD-4954-80C5-955D2288D227}"/>
              </a:ext>
            </a:extLst>
          </p:cNvPr>
          <p:cNvSpPr>
            <a:spLocks xmlns:a="http://schemas.openxmlformats.org/drawingml/2006/main" noGrp="1"/>
          </p:cNvSpPr>
          <p:nvPr/>
        </p:nvSpPr>
        <p:spPr>
          <a:xfrm xmlns:a="http://schemas.openxmlformats.org/drawingml/2006/main">
            <a:off x="685800" y="80010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654"/>
                </a:solidFill>
                <a:latin typeface="Arial"/>
                <a:ea typeface="Arial"/>
                <a:cs typeface="Arial"/>
              </a:defRPr>
            </a:pPr>
            <a:r>
              <a:rPr sz="3000" b="1">
                <a:solidFill>
                  <a:srgbClr val="0B3654"/>
                </a:solidFill>
                <a:latin typeface="Arial"/>
                <a:ea typeface="Arial"/>
                <a:cs typeface="Arial"/>
              </a:rPr>
              <a:t>What We Built</a:t>
            </a:r>
          </a:p>
        </p:txBody>
      </p:sp>
      <p:sp>
        <p:nvSpPr>
          <p:cNvPr id="3" name="">
            <a:extLst xmlns:a="http://schemas.openxmlformats.org/drawingml/2006/main">
              <a:ext uri="{FF2B5EF4-FFF2-40B4-BE49-F238E27FC236}">
                <a16:creationId xmlns:a16="http://schemas.microsoft.com/office/drawing/2014/main" id="{B1359AA6-6949-44B7-A43E-7C28DCC33F7A}"/>
              </a:ext>
            </a:extLst>
          </p:cNvPr>
          <p:cNvSpPr>
            <a:spLocks xmlns:a="http://schemas.openxmlformats.org/drawingml/2006/main" noGrp="1"/>
          </p:cNvSpPr>
          <p:nvPr/>
        </p:nvSpPr>
        <p:spPr>
          <a:xfrm xmlns:a="http://schemas.openxmlformats.org/drawingml/2006/main">
            <a:off x="685800" y="6343650"/>
            <a:ext cx="742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MetaboCausal · AI Tinkerers Montréal · 12 Sep 2026</a:t>
            </a:r>
          </a:p>
        </p:txBody>
      </p:sp>
      <p:sp>
        <p:nvSpPr>
          <p:cNvPr id="4" name="">
            <a:extLst xmlns:a="http://schemas.openxmlformats.org/drawingml/2006/main">
              <a:ext uri="{FF2B5EF4-FFF2-40B4-BE49-F238E27FC236}">
                <a16:creationId xmlns:a16="http://schemas.microsoft.com/office/drawing/2014/main" id="{C3BB19F0-31D4-44CD-AB54-B180C7BE963C}"/>
              </a:ext>
            </a:extLst>
          </p:cNvPr>
          <p:cNvSpPr>
            <a:spLocks xmlns:a="http://schemas.openxmlformats.org/drawingml/2006/main" noGrp="1"/>
          </p:cNvSpPr>
          <p:nvPr/>
        </p:nvSpPr>
        <p:spPr>
          <a:xfrm xmlns:a="http://schemas.openxmlformats.org/drawingml/2006/main">
            <a:off x="10953750" y="63436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809"/>
          </a:bodyPr>
          <a:lstStyle xmlns:a="http://schemas.openxmlformats.org/drawingml/2006/main"/>
          <a:p xmlns:a="http://schemas.openxmlformats.org/drawingml/2006/main">
            <a:pPr>
              <a:defRPr sz="1050" b="0">
                <a:solidFill>
                  <a:srgbClr val="475569"/>
                </a:solidFill>
                <a:latin typeface="Arial"/>
                <a:ea typeface="Arial"/>
                <a:cs typeface="Arial"/>
              </a:defRPr>
            </a:pPr>
            <a:r>
              <a:rPr sz="1050" b="0">
                <a:solidFill>
                  <a:srgbClr val="475569"/>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75FE4F27-DD5F-4328-9DC3-738255CCCB7B}"/>
              </a:ext>
            </a:extLst>
          </p:cNvPr>
          <p:cNvSpPr>
            <a:spLocks xmlns:a="http://schemas.openxmlformats.org/drawingml/2006/main" noGrp="1"/>
          </p:cNvSpPr>
          <p:nvPr/>
        </p:nvSpPr>
        <p:spPr>
          <a:xfrm xmlns:a="http://schemas.openxmlformats.org/drawingml/2006/main">
            <a:off x="685800" y="161925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205"/>
          </a:bodyPr>
          <a:lstStyle xmlns:a="http://schemas.openxmlformats.org/drawingml/2006/main"/>
          <a:p xmlns:a="http://schemas.openxmlformats.org/drawingml/2006/main">
            <a:pPr>
              <a:defRPr sz="1950" b="1">
                <a:solidFill>
                  <a:srgbClr val="0B3654"/>
                </a:solidFill>
                <a:latin typeface="Arial"/>
                <a:ea typeface="Arial"/>
                <a:cs typeface="Arial"/>
              </a:defRPr>
            </a:pPr>
            <a:r>
              <a:rPr sz="1950" b="1">
                <a:solidFill>
                  <a:srgbClr val="0B3654"/>
                </a:solidFill>
                <a:latin typeface="Arial"/>
                <a:ea typeface="Arial"/>
                <a:cs typeface="Arial"/>
              </a:rPr>
              <a:t>My lead contribution</a:t>
            </a:r>
          </a:p>
        </p:txBody>
      </p:sp>
      <p:sp>
        <p:nvSpPr>
          <p:cNvPr id="6" name="">
            <a:extLst xmlns:a="http://schemas.openxmlformats.org/drawingml/2006/main">
              <a:ext uri="{FF2B5EF4-FFF2-40B4-BE49-F238E27FC236}">
                <a16:creationId xmlns:a16="http://schemas.microsoft.com/office/drawing/2014/main" id="{ECB1C9AA-F897-4FBF-AC78-FB74DA1A408D}"/>
              </a:ext>
            </a:extLst>
          </p:cNvPr>
          <p:cNvSpPr>
            <a:spLocks xmlns:a="http://schemas.openxmlformats.org/drawingml/2006/main" noGrp="1"/>
          </p:cNvSpPr>
          <p:nvPr/>
        </p:nvSpPr>
        <p:spPr>
          <a:xfrm xmlns:a="http://schemas.openxmlformats.org/drawingml/2006/main">
            <a:off x="685800" y="20574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2262"/>
          </a:bodyPr>
          <a:lstStyle xmlns:a="http://schemas.openxmlformats.org/drawingml/2006/main"/>
          <a:p xmlns:a="http://schemas.openxmlformats.org/drawingml/2006/main">
            <a:pPr>
              <a:defRPr sz="2100" b="1">
                <a:solidFill>
                  <a:srgbClr val="0F172A"/>
                </a:solidFill>
                <a:latin typeface="Arial"/>
                <a:ea typeface="Arial"/>
                <a:cs typeface="Arial"/>
              </a:defRPr>
            </a:pPr>
            <a:r>
              <a:rPr sz="2100" b="1">
                <a:solidFill>
                  <a:srgbClr val="0F172A"/>
                </a:solidFill>
                <a:latin typeface="Arial"/>
                <a:ea typeface="Arial"/>
                <a:cs typeface="Arial"/>
              </a:rPr>
              <a:t>Scientific framework, evidence states, model boundary and integration across team modules.</a:t>
            </a:r>
          </a:p>
        </p:txBody>
      </p:sp>
      <p:sp>
        <p:nvSpPr>
          <p:cNvPr id="7" name="">
            <a:extLst xmlns:a="http://schemas.openxmlformats.org/drawingml/2006/main">
              <a:ext uri="{FF2B5EF4-FFF2-40B4-BE49-F238E27FC236}">
                <a16:creationId xmlns:a16="http://schemas.microsoft.com/office/drawing/2014/main" id="{CF6182F9-7140-4D32-BD1D-79F643B3FCA5}"/>
              </a:ext>
            </a:extLst>
          </p:cNvPr>
          <p:cNvSpPr>
            <a:spLocks xmlns:a="http://schemas.openxmlformats.org/drawingml/2006/main" noGrp="1"/>
          </p:cNvSpPr>
          <p:nvPr/>
        </p:nvSpPr>
        <p:spPr>
          <a:xfrm xmlns:a="http://schemas.openxmlformats.org/drawingml/2006/main">
            <a:off x="685800" y="316230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9697"/>
          </a:bodyPr>
          <a:lstStyle xmlns:a="http://schemas.openxmlformats.org/drawingml/2006/main"/>
          <a:p xmlns:a="http://schemas.openxmlformats.org/drawingml/2006/main">
            <a:pPr>
              <a:defRPr sz="1650" b="1">
                <a:solidFill>
                  <a:srgbClr val="15803D"/>
                </a:solidFill>
                <a:latin typeface="Arial"/>
                <a:ea typeface="Arial"/>
                <a:cs typeface="Arial"/>
              </a:defRPr>
            </a:pPr>
            <a:r>
              <a:rPr sz="1650" b="1">
                <a:solidFill>
                  <a:srgbClr val="15803D"/>
                </a:solidFill>
                <a:latin typeface="Arial"/>
                <a:ea typeface="Arial"/>
                <a:cs typeface="Arial"/>
              </a:rPr>
              <a:t>Current MVP</a:t>
            </a:r>
          </a:p>
        </p:txBody>
      </p:sp>
      <p:sp>
        <p:nvSpPr>
          <p:cNvPr id="8" name="">
            <a:extLst xmlns:a="http://schemas.openxmlformats.org/drawingml/2006/main">
              <a:ext uri="{FF2B5EF4-FFF2-40B4-BE49-F238E27FC236}">
                <a16:creationId xmlns:a16="http://schemas.microsoft.com/office/drawing/2014/main" id="{4F4B29E4-1FC5-420F-988B-BA967F3B1683}"/>
              </a:ext>
            </a:extLst>
          </p:cNvPr>
          <p:cNvSpPr>
            <a:spLocks xmlns:a="http://schemas.openxmlformats.org/drawingml/2006/main" noGrp="1"/>
          </p:cNvSpPr>
          <p:nvPr/>
        </p:nvSpPr>
        <p:spPr>
          <a:xfrm xmlns:a="http://schemas.openxmlformats.org/drawingml/2006/main">
            <a:off x="685800" y="3524250"/>
            <a:ext cx="914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0">
                <a:solidFill>
                  <a:srgbClr val="475569"/>
                </a:solidFill>
                <a:latin typeface="Arial"/>
                <a:ea typeface="Arial"/>
                <a:cs typeface="Arial"/>
              </a:defRPr>
            </a:pPr>
            <a:r>
              <a:rPr sz="1725" b="0">
                <a:solidFill>
                  <a:srgbClr val="475569"/>
                </a:solidFill>
                <a:latin typeface="Arial"/>
                <a:ea typeface="Arial"/>
                <a:cs typeface="Arial"/>
              </a:rPr>
              <a:t>Slack workflow, source-linked evidence cards, OpenAI and Claude interpretation.</a:t>
            </a:r>
          </a:p>
        </p:txBody>
      </p:sp>
      <p:sp>
        <p:nvSpPr>
          <p:cNvPr id="9" name="">
            <a:extLst xmlns:a="http://schemas.openxmlformats.org/drawingml/2006/main">
              <a:ext uri="{FF2B5EF4-FFF2-40B4-BE49-F238E27FC236}">
                <a16:creationId xmlns:a16="http://schemas.microsoft.com/office/drawing/2014/main" id="{921AA296-A18B-4CBE-AD2D-6C40F4A8AB85}"/>
              </a:ext>
            </a:extLst>
          </p:cNvPr>
          <p:cNvSpPr>
            <a:spLocks xmlns:a="http://schemas.openxmlformats.org/drawingml/2006/main" noGrp="1"/>
          </p:cNvSpPr>
          <p:nvPr/>
        </p:nvSpPr>
        <p:spPr>
          <a:xfrm xmlns:a="http://schemas.openxmlformats.org/drawingml/2006/main">
            <a:off x="685800" y="41719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9697"/>
          </a:bodyPr>
          <a:lstStyle xmlns:a="http://schemas.openxmlformats.org/drawingml/2006/main"/>
          <a:p xmlns:a="http://schemas.openxmlformats.org/drawingml/2006/main">
            <a:pPr>
              <a:defRPr sz="1650" b="1">
                <a:solidFill>
                  <a:srgbClr val="B45309"/>
                </a:solidFill>
                <a:latin typeface="Arial"/>
                <a:ea typeface="Arial"/>
                <a:cs typeface="Arial"/>
              </a:defRPr>
            </a:pPr>
            <a:r>
              <a:rPr sz="1650" b="1">
                <a:solidFill>
                  <a:srgbClr val="B45309"/>
                </a:solidFill>
                <a:latin typeface="Arial"/>
                <a:ea typeface="Arial"/>
                <a:cs typeface="Arial"/>
              </a:rPr>
              <a:t>Next</a:t>
            </a:r>
          </a:p>
        </p:txBody>
      </p:sp>
      <p:sp>
        <p:nvSpPr>
          <p:cNvPr id="10" name="">
            <a:extLst xmlns:a="http://schemas.openxmlformats.org/drawingml/2006/main">
              <a:ext uri="{FF2B5EF4-FFF2-40B4-BE49-F238E27FC236}">
                <a16:creationId xmlns:a16="http://schemas.microsoft.com/office/drawing/2014/main" id="{2C1F8230-62EE-4889-AAB1-D64DB7740584}"/>
              </a:ext>
            </a:extLst>
          </p:cNvPr>
          <p:cNvSpPr>
            <a:spLocks xmlns:a="http://schemas.openxmlformats.org/drawingml/2006/main" noGrp="1"/>
          </p:cNvSpPr>
          <p:nvPr/>
        </p:nvSpPr>
        <p:spPr>
          <a:xfrm xmlns:a="http://schemas.openxmlformats.org/drawingml/2006/main">
            <a:off x="685800" y="4533900"/>
            <a:ext cx="914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406"/>
          </a:bodyPr>
          <a:lstStyle xmlns:a="http://schemas.openxmlformats.org/drawingml/2006/main"/>
          <a:p xmlns:a="http://schemas.openxmlformats.org/drawingml/2006/main">
            <a:pPr>
              <a:defRPr sz="1725" b="0">
                <a:solidFill>
                  <a:srgbClr val="475569"/>
                </a:solidFill>
                <a:latin typeface="Arial"/>
                <a:ea typeface="Arial"/>
                <a:cs typeface="Arial"/>
              </a:defRPr>
            </a:pPr>
            <a:r>
              <a:rPr sz="1725" b="0">
                <a:solidFill>
                  <a:srgbClr val="475569"/>
                </a:solidFill>
                <a:latin typeface="Arial"/>
                <a:ea typeface="Arial"/>
                <a:cs typeface="Arial"/>
              </a:rPr>
              <a:t>Broader literature coverage and deeper gene / pathway context.</a:t>
            </a:r>
          </a:p>
        </p:txBody>
      </p:sp>
      <p:sp>
        <p:nvSpPr>
          <p:cNvPr id="11" name="">
            <a:extLst xmlns:a="http://schemas.openxmlformats.org/drawingml/2006/main">
              <a:ext uri="{FF2B5EF4-FFF2-40B4-BE49-F238E27FC236}">
                <a16:creationId xmlns:a16="http://schemas.microsoft.com/office/drawing/2014/main" id="{04B32B38-E31D-4C7F-B042-7BB606ABF2CD}"/>
              </a:ext>
            </a:extLst>
          </p:cNvPr>
          <p:cNvSpPr>
            <a:spLocks xmlns:a="http://schemas.openxmlformats.org/drawingml/2006/main" noGrp="1"/>
          </p:cNvSpPr>
          <p:nvPr/>
        </p:nvSpPr>
        <p:spPr>
          <a:xfrm xmlns:a="http://schemas.openxmlformats.org/drawingml/2006/main">
            <a:off x="685800" y="5467350"/>
            <a:ext cx="10172700" cy="552450"/>
          </a:xfrm>
          <a:prstGeom xmlns:a="http://schemas.openxmlformats.org/drawingml/2006/main" prst="rect">
            <a:avLst/>
          </a:prstGeom>
          <a:solidFill xmlns:a="http://schemas.openxmlformats.org/drawingml/2006/main">
            <a:srgbClr val="E0F2FE"/>
          </a:solidFill>
          <a:ln xmlns:a="http://schemas.openxmlformats.org/drawingml/2006/main" w="9525">
            <a:solidFill>
              <a:srgbClr val="BAE6FD"/>
            </a:solidFill>
          </a:ln>
        </p:spPr>
      </p:sp>
      <p:sp>
        <p:nvSpPr>
          <p:cNvPr id="12" name="">
            <a:extLst xmlns:a="http://schemas.openxmlformats.org/drawingml/2006/main">
              <a:ext uri="{FF2B5EF4-FFF2-40B4-BE49-F238E27FC236}">
                <a16:creationId xmlns:a16="http://schemas.microsoft.com/office/drawing/2014/main" id="{309B3CF3-05DE-499B-B20C-5D3391645C6C}"/>
              </a:ext>
            </a:extLst>
          </p:cNvPr>
          <p:cNvSpPr>
            <a:spLocks xmlns:a="http://schemas.openxmlformats.org/drawingml/2006/main" noGrp="1"/>
          </p:cNvSpPr>
          <p:nvPr/>
        </p:nvSpPr>
        <p:spPr>
          <a:xfrm xmlns:a="http://schemas.openxmlformats.org/drawingml/2006/main">
            <a:off x="914400" y="56007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0C4A6E"/>
                </a:solidFill>
                <a:latin typeface="Arial"/>
                <a:ea typeface="Arial"/>
                <a:cs typeface="Arial"/>
              </a:defRPr>
            </a:pPr>
            <a:r>
              <a:rPr sz="1500" b="1">
                <a:solidFill>
                  <a:srgbClr val="0C4A6E"/>
                </a:solidFill>
                <a:latin typeface="Arial"/>
                <a:ea typeface="Arial"/>
                <a:cs typeface="Arial"/>
              </a:rPr>
              <a:t>Say: We built a path from question to evidence, and we kept the uncertainty visible.</a:t>
            </a:r>
          </a:p>
        </p:txBody>
      </p:sp>
    </p:spTree>
    <p:extLst>
      <p:ext uri="{BB962C8B-B14F-4D97-AF65-F5344CB8AC3E}">
        <p14:creationId xmlns:p14="http://schemas.microsoft.com/office/powerpoint/2010/main" val="3577486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2026-09-12T20:18:33.2330000Z</dcterms:created>
  <dcterms:modified xsi:type="dcterms:W3CDTF">2026-09-12T20:18:33.2330000Z</dcterms:modified>
</coreProperties>
</file>